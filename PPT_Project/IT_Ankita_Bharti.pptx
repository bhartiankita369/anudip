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</p:sldIdLst>
  <p:notesMasterIdLst>
    <p:notesMasterId r:id="rId9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notesMaster" Target="notesMasters/notesMaster1.xml"/><Relationship Id="rId95" Type="http://schemas.openxmlformats.org/officeDocument/2006/relationships/presProps" Target="presProps.xml"/><Relationship Id="rId96" Type="http://schemas.openxmlformats.org/officeDocument/2006/relationships/viewProps" Target="viewProps.xml"/><Relationship Id="rId97" Type="http://schemas.openxmlformats.org/officeDocument/2006/relationships/theme" Target="theme/theme1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90C22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E6B91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960120"/>
            <a:ext cx="1005840" cy="1005840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5591556" y="960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Technology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0C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&amp; Interview Revision Notes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997196" y="4297680"/>
            <a:ext cx="2194560" cy="0"/>
          </a:xfrm>
          <a:prstGeom prst="line">
            <a:avLst/>
          </a:prstGeom>
          <a:noFill/>
          <a:ln w="19050">
            <a:solidFill>
              <a:srgbClr val="E6B9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Ankita Bharti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50292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Exam &amp; Interview Preparation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1005840" cy="54864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420624" cy="420624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7008" y="1499616"/>
            <a:ext cx="476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IT &amp; Business Systems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07008" y="2157984"/>
            <a:ext cx="476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Sources &amp; Life Cycle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871216"/>
            <a:ext cx="420624" cy="420624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816352"/>
            <a:ext cx="476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Business Analyst Role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420624" cy="420624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29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07008" y="3474720"/>
            <a:ext cx="476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vs. Information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187952"/>
            <a:ext cx="420624" cy="420624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7008" y="4133088"/>
            <a:ext cx="476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85916" y="1554480"/>
            <a:ext cx="420624" cy="420624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20" name="Text 18"/>
          <p:cNvSpPr/>
          <p:nvPr/>
        </p:nvSpPr>
        <p:spPr>
          <a:xfrm>
            <a:off x="6185916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52844" y="1499616"/>
            <a:ext cx="476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Discussions &amp; Real-Life Examples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85916" y="2212848"/>
            <a:ext cx="420624" cy="420624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23" name="Text 21"/>
          <p:cNvSpPr/>
          <p:nvPr/>
        </p:nvSpPr>
        <p:spPr>
          <a:xfrm>
            <a:off x="6185916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52844" y="2157984"/>
            <a:ext cx="476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Data Ethics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85916" y="2871216"/>
            <a:ext cx="420624" cy="420624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26" name="Text 24"/>
          <p:cNvSpPr/>
          <p:nvPr/>
        </p:nvSpPr>
        <p:spPr>
          <a:xfrm>
            <a:off x="6185916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52844" y="2816352"/>
            <a:ext cx="476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Q&amp;A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185916" y="3529584"/>
            <a:ext cx="420624" cy="420624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29" name="Text 27"/>
          <p:cNvSpPr/>
          <p:nvPr/>
        </p:nvSpPr>
        <p:spPr>
          <a:xfrm>
            <a:off x="6185916" y="3529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52844" y="3474720"/>
            <a:ext cx="476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90C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4114800"/>
            <a:ext cx="4114800" cy="4114800"/>
          </a:xfrm>
          <a:prstGeom prst="ellipse">
            <a:avLst/>
          </a:prstGeom>
          <a:solidFill>
            <a:srgbClr val="E6B91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488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90C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IT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Business Systems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271516" y="4617720"/>
            <a:ext cx="1645920" cy="0"/>
          </a:xfrm>
          <a:prstGeom prst="line">
            <a:avLst/>
          </a:prstGeom>
          <a:noFill/>
          <a:ln w="25400">
            <a:solidFill>
              <a:srgbClr val="E6B91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Information Technology?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= use of computers, software, networks &amp; digital systems to store, process, transmit and manage information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vs Computer Science: IT is about USING &amp; managing systems; CS is about studying computation &amp; designing systems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backbone of modern business, education, healthcare &amp; communication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repetitive tasks &amp; operations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efficient communication (email, messaging, video calls)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data storage &amp; analysis for decision-making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global connectivity through the internet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innovation across healthcare, finance, education &amp; entertainment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Components of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— physical devices (computers, servers, routers)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— programs &amp; operating systems that run on hardware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— connects systems for data sharing (LAN/WAN/Internet)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raw facts processed into meaningful information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Processes — users, IT professionals &amp; workflows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Hardware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devices: keyboard, mouse, scanner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devices: monitor, printer, speakers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the "brain" — Control Unit + ALU (Arithmetic Logic Unit)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RAM (volatile) vs ROM (non-volatile)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hard disks, SSDs, optical drives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Software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Software: operating systems (Windows, Linux, macOS)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Software: end-user tools (MS Office, browsers, databases)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Software: file management, antivirus, backup tools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 &amp; the Internet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connect devices to share data &amp; resources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PAN (Personal), LAN (Local), MAN (Metropolitan), WAN (Wide Area)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= global network enabling email, browsing &amp; communication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devices: Router, Switch, Hub, Modem, Access Point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Databases, Security &amp; Cloud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DBMS: structured data managed via systems like MySQL, Oracle, SQL Server (queried using SQL)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Cybersecurity: protects data from threats — viruses, malware, phishing, ransomware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measures: firewalls, encryption, authentication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Computing: delivers IaaS / PaaS / SaaS over the internet (AWS, Azure, Google Cloud)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IT 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— machine learning, automation, NLP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 (IoT) — smart devices connected online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— secure, decentralized data ledger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— analysis of massive datasets for insight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Across Business, Education &amp; Society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e-commerce, ERP, CRM, business intelligence, remote collaboration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Education: e-learning platforms, virtual classrooms, digital libraries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Society: social media, digital communication, global connectivity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IT in Modern Business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efficiency — automates repetitive tasks, reduces errors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communication — email, messaging, video conferencing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decision-making — analytics for strategy &amp; performance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competitiveness — platforms for R&amp;D and new products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IT in Modern Business (contd.)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optimization — tracks inventory &amp; logistics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customer experience — CRM tools &amp; chatbots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— protects sensitive data &amp; reputation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flexibility — cloud computing grows with the business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Resource Planning (ERP)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= software that integrates core business processes (finance, HR, supply chain, manufacturing) into one platform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data → real-time, single source of truth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departments share information &amp; work together efficiently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of ERP Systems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17352" cy="914400"/>
        </p:xfrm>
        <a:graphic>
          <a:graphicData uri="http://schemas.openxmlformats.org/drawingml/2006/table">
            <a:tbl>
              <a:tblPr/>
              <a:tblGrid>
                <a:gridCol w="5408676"/>
                <a:gridCol w="540867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business data stored in one place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of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processes across HR, Finance, Sales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manual work &amp; errors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Reporting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access to performance metrics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Tailored to specific business needs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 in ERP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Accounting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 Management (HRM)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 Management (CRM)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Management (SCM)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/ Manufacturing Management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ERP Platforms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 — all departments store &amp; access data from one place; avoids duplication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new sales order automatically updates inventory &amp; accounting modules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links workflows: Sales → Inventory → Production → Finance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routine tasks: invoices, stock updates, payroll, shipment tracking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ERP: Structure &amp;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let managers monitor sales, expenses &amp; performance instantly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structure — Finance, HR, Inventory &amp; Sales modules added as needed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ERP: installed on company servers | Cloud ERP: hosted online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+ encryption + backups protect sensitive data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updates keep systems scalable as the business grows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ERP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17352" cy="914400"/>
        </p:xfrm>
        <a:graphic>
          <a:graphicData uri="http://schemas.openxmlformats.org/drawingml/2006/table">
            <a:tbl>
              <a:tblPr/>
              <a:tblGrid>
                <a:gridCol w="3605784"/>
                <a:gridCol w="3605784"/>
                <a:gridCol w="360578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servers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enterprises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SMEs, scalable needs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+ on-premise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 companies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ERP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Industry-specific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Manufacturing, healthcare, retail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ERP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Customizable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Startups, tech teams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ERP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productivity &amp; efficiency; lower operational costs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financial management &amp; real-time analytics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inventory management &amp; enhanced collaboration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customer service &amp; greater business agility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Scalability, regulatory compliance &amp; stronger data security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vs CRM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17352" cy="914400"/>
        </p:xfrm>
        <a:graphic>
          <a:graphicData uri="http://schemas.openxmlformats.org/drawingml/2006/table">
            <a:tbl>
              <a:tblPr/>
              <a:tblGrid>
                <a:gridCol w="3605784"/>
                <a:gridCol w="3605784"/>
                <a:gridCol w="360578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Manages internal operations (finance, HR, inventory)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Manages customer-facing activities (sales, service)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efficiency, reduce costs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satisfaction, grow sales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Finance, HR, operations, logistics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Sales, marketing, support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Suppliers, employees, inventory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Leads, buying behaviour, communication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Strategy, IT Strategy &amp; Alignment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 — defines an organization's goals &amp; long-term direction (e.g., expand markets, cut costs)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Strategy — defines how technology supports those goals (infrastructure, applications, cybersecurity, investment)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Capability — the organization's ability to coordinate business &amp; IT so they work together effectively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business plan fails if it isn't aligned with IT capability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Strategy &amp; IT Work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 → drives IT Strategy (e.g., customer-experience goal → invest in CRM/chatbots)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Strategy → enables Business Strategy (e.g., global expansion → cloud &amp; e-commerce systems)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Capability → keeps both in sync via reviews, communication &amp; agile adjustments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Alignment Cycle: Business Strategy → IT Strategy → Alignment → improved performance → shapes future strategy (repeats)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Introduction to IT &amp; Business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C3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914400"/>
            <a:ext cx="3108960" cy="3108960"/>
          </a:xfrm>
          <a:prstGeom prst="ellipse">
            <a:avLst/>
          </a:prstGeom>
          <a:solidFill>
            <a:srgbClr val="90C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457200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Points to Remember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960120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C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IT &amp; Business Systems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= Hardware + Software + Networking + Data + People/Processes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supports business through efficiency, communication, data-driven decisions &amp; innovation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integrates ALL core business functions into one centralized database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focuses on internal operations; CRM focuses on customer relationships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Strategy, IT Strategy &amp; Alignment Capability must work together continuously — it's a cycle, not a one-time event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90C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4114800"/>
            <a:ext cx="4114800" cy="4114800"/>
          </a:xfrm>
          <a:prstGeom prst="ellipse">
            <a:avLst/>
          </a:prstGeom>
          <a:solidFill>
            <a:srgbClr val="E6B91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488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90C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Types, Sources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Life Cycle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271516" y="4617720"/>
            <a:ext cx="1645920" cy="0"/>
          </a:xfrm>
          <a:prstGeom prst="line">
            <a:avLst/>
          </a:prstGeom>
          <a:noFill/>
          <a:ln w="25400">
            <a:solidFill>
              <a:srgbClr val="E6B91E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of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receive data from CRMs, web apps, IoT devices, social media &amp; APIs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broadly falls into 3 categories: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data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Data Types, Sources &amp; Life Cycle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organized, stored in fixed rows &amp; columns (tabular format)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 predefined schema — easy to search &amp; analyze with SQL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relational databases (RDBMS)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Excel sheets, SQL tables, bank transaction records, employee records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Data Types, Sources &amp; Life Cycle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Semi-Structured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strict tabular format, but has some organization via tags/markers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tags, key-value pairs, or hierarchical structure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organize than unstructured data, harder than structured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JSON, XML, HTML pages, emails, MongoDB documents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Data Types, Sources &amp; Life Cycle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Unstructured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predefined structure or schema — doesn't fit rows &amp; columns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free-form content; hard to store in traditional databases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text mining, NLP or image processing to analyze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Word/PDF docs, images, audio, video, social media posts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Data Types, Sources &amp; Life Cycle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vs Semi vs Unstructured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17352" cy="914400"/>
        </p:xfrm>
        <a:graphic>
          <a:graphicData uri="http://schemas.openxmlformats.org/drawingml/2006/table">
            <a:tbl>
              <a:tblPr/>
              <a:tblGrid>
                <a:gridCol w="3605784"/>
                <a:gridCol w="3605784"/>
                <a:gridCol w="360578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rows &amp; columns, schema-based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tables, Excel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Semi-structured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 / key-value / hierarchical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JSON, XML, 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Free-form, no schema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Images, video, PDFs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Data Types, Sources &amp; Life Cycle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Data 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 — generated within the organization (sales, CRM, HR, inventory records); reliable &amp; confidential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Analytics — data from external analytics providers (Google Analytics, ad platforms, market research)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— from outside the organization (market trends, competitor &amp; industry data)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— freely available public data (census, weather, government portals)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Data Types, Sources &amp; Life Cycle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Collection: By Nature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Data (non-numerical) — descriptive/textual; answers "why" &amp; "how"; e.g., opinions, feedback, interviews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Data (numerical) — measurable; answers "how much/many"; e.g., sales figures, marks, ratings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Data Types, Sources &amp; Life Cycle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Collection: By Source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— collected first-hand for a specific purpose (surveys, interviews, experiments)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Advantage: original &amp; specific | Disadvantage: costly &amp; time-consuming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 — collected from existing sources (books, reports, government data)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Advantage: quick &amp; cheap | Disadvantage: may be outdated/less relevant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Data Types, Sources &amp; Life Cycle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Life Cycle Management (DLM)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DLM = managing data from creation to deletion/archiving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stages: Creation → Storage → Usage → Sharing → Archiving → Deletion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data stays secure, accessible &amp; compliant throughout its life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DLM reduces storage costs and data-security risk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Data Types, Sources &amp; Life Cycle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vs Data Integrity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— how accurate, complete &amp; reliable the data is for its intended use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— data remaining accurate &amp; unaltered across its entire life cycle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about "fit for purpose"; integrity is about "trustworthy &amp; unchanged"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essential for dependable reporting &amp; decisions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Data Types, Sources &amp; Life Cycle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C3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914400"/>
            <a:ext cx="3108960" cy="3108960"/>
          </a:xfrm>
          <a:prstGeom prst="ellipse">
            <a:avLst/>
          </a:prstGeom>
          <a:solidFill>
            <a:srgbClr val="90C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457200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Points to Remember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960120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C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Sources &amp; Life Cycle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 types: Structured (tables) | Semi-structured (tags) | Unstructured (free-form)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 sources: Internal | Third-party analytics | External | Open data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= descriptive; Quantitative = numerical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= first-hand; Secondary data = existing sources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DLM covers the full journey of data — from creation to deletion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F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90C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4114800"/>
            <a:ext cx="4114800" cy="4114800"/>
          </a:xfrm>
          <a:prstGeom prst="ellipse">
            <a:avLst/>
          </a:prstGeom>
          <a:solidFill>
            <a:srgbClr val="E6B91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488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90C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Analyst Role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271516" y="4617720"/>
            <a:ext cx="1645920" cy="0"/>
          </a:xfrm>
          <a:prstGeom prst="line">
            <a:avLst/>
          </a:prstGeom>
          <a:noFill/>
          <a:ln w="25400">
            <a:solidFill>
              <a:srgbClr val="E6B91E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Business Analysts Do?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current processes, systems &amp; products to find improvement areas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a bridge between business needs and technical solutions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requirements, analyze data &amp; communicate insights to stakeholders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guide strategic decisions and implement changes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Introduction to Business Analyst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Responsibilities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business needs — identify functional &amp; technical requirements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— use SQL/Excel to find trends &amp; build models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improvement — spot inefficiencies, propose solutions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 — define project scope with stakeholders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Introduction to Business Analyst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Responsibilities (contd.)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documentation — reports/presentations for management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implementation — oversee rollout of new systems/processes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delivered solutions meet requirements &amp; add business value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Introduction to Business Analyst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of a Business Analyst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thinking &amp; problem-solving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skills (bridging business &amp; technical teams)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process modelling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knowledge of databases, Excel &amp; BI tools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understanding (finance, sales, operations)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Introduction to Business Analyst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 by Business Analysts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management: JIRA, Confluence, Trello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analysis: Excel, Google Analytics, Tableau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mapping: Visio, Lucidchart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Collaboration: Slack, Zoom, Microsoft Teams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Introduction to Business Analyst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 &amp; Relationship-Building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stakeholders builds trust &amp; gathers complete requirements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stakeholder buy-in and support for the final solution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communication mitigates risk — issues are caught early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relationships enable faster decision-making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Introduction to Business Analyst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Methodologies: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— linear, sequential; each phase completed before the next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— iterative &amp; incremental; flexible, continuous feedback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depends on how stable/likely-to-change the requirements are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Introduction to Business Analyst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Waterfall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Phases: Requirements → Design → Development → Testing → Maintenance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role: gather complete requirements upfront, prepare BRD/SRS, get stakeholder sign-off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clear structure, strong documentation, good for stable requirements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inflexible, feedback comes late, risk of mismatch with user needs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Introduction to Business Analyst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&amp; incremental — delivers value continuously in short sprints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frameworks: Scrum, Kanban, Lean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role: write/refine user stories, join sprint planning, stand-ups &amp; reviews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flexible, frequent feedback, faster delivery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needs high team involvement, lighter documentation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Introduction to Business Analyst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Waterfall vs Agile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17352" cy="914400"/>
        </p:xfrm>
        <a:graphic>
          <a:graphicData uri="http://schemas.openxmlformats.org/drawingml/2006/table">
            <a:tbl>
              <a:tblPr/>
              <a:tblGrid>
                <a:gridCol w="3605784"/>
                <a:gridCol w="3605784"/>
                <a:gridCol w="360578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Waterfall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&amp; sequential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Iterative, in sprints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early, hard to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evolve continuously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Involvement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&amp; end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sprint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project 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Frequent, incremental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(BRD, SRS)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"Just enough"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Suited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requirements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Uncertain/changing requirements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Introduction to Business Analyst Role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Waterfall vs Agile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Waterfall when: requirements are clear, project is simple, strict compliance/documentation is needed, fixed budget &amp; timeline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Agile when: requirements may change, fast delivery matters, continuous customer feedback is valuable, project is complex or innovative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Introduction to Business Analyst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of identifying, analyzing &amp; engaging people affected by / affecting a project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manage interests &amp; expectations to ensure project success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Involves communication, understanding needs &amp; building trust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Introduction to Business Analyst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Stakeholder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project success — requirements are fully understood upfront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&amp; mitigates risk early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decision-making &amp; resource use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engagement, motivation &amp; collaboration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and strengthens long-term relationships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Introduction to Business Analyst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Aspects of Stakeholder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— recognize all interested parties (employees, customers, investors, regulators)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— understand needs, interest &amp; influence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— rank by importance/impact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&amp; Communication — keep stakeholders informed &amp; involved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Introduction to Business Analyst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C3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914400"/>
            <a:ext cx="3108960" cy="3108960"/>
          </a:xfrm>
          <a:prstGeom prst="ellipse">
            <a:avLst/>
          </a:prstGeom>
          <a:solidFill>
            <a:srgbClr val="90C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457200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Points to Remember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960120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C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Business Analyst Role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= bridge between business needs and technical solutions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 skills: analytical thinking, communication, documentation, domain knowledge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= linear &amp; fixed; Agile = iterative &amp; flexible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Waterfall for stable requirements; Agile for changing/uncertain ones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management = identify → analyze → prioritize → engage → communicate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F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90C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4114800"/>
            <a:ext cx="4114800" cy="4114800"/>
          </a:xfrm>
          <a:prstGeom prst="ellipse">
            <a:avLst/>
          </a:prstGeom>
          <a:solidFill>
            <a:srgbClr val="E6B91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488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90C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vs Information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271516" y="4617720"/>
            <a:ext cx="1645920" cy="0"/>
          </a:xfrm>
          <a:prstGeom prst="line">
            <a:avLst/>
          </a:prstGeom>
          <a:noFill/>
          <a:ln w="25400">
            <a:solidFill>
              <a:srgbClr val="E6B91E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vs Information: Definitions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raw, unorganized facts &amp; figures with no context on their own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— data that has been processed, organized &amp; given meaning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answers "what"; Information answers "so what"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'42' is data; 'the temperature is 42°C' is information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Data vs Information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 vs Processed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— collected directly from a source, unedited &amp; unorganized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data — cleaned, structured &amp; analyzed to produce insight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can contain errors, duplicates or noise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(cleaning, sorting, analyzing) turns raw data into decision-ready information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Data vs Information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Information to Knowledge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Information → Knowledge → Wisdom (the DIKW hierarchy)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becomes Knowledge when it's understood &amp; connected to experience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enables judgment; Wisdom applies knowledge effectively in context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aim to convert raw data into actionable knowledge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Data vs Information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Information Matters for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decisions require accurate, timely &amp; relevant information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uncertainty and risk in business &amp; economic choices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or incomplete information leads to poor decision-making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a key economic resource — it has real value &amp; cost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Data vs Information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C3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914400"/>
            <a:ext cx="3108960" cy="3108960"/>
          </a:xfrm>
          <a:prstGeom prst="ellipse">
            <a:avLst/>
          </a:prstGeom>
          <a:solidFill>
            <a:srgbClr val="90C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457200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Points to Remember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960120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C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vs Information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= raw facts; Information = processed, meaningful data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DIKW hierarchy: Data → Information → Knowledge → Wisdom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must be cleaned/processed before it's useful for decisions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information = better, lower-risk decisions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F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90C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4114800"/>
            <a:ext cx="4114800" cy="4114800"/>
          </a:xfrm>
          <a:prstGeom prst="ellipse">
            <a:avLst/>
          </a:prstGeom>
          <a:solidFill>
            <a:srgbClr val="E6B91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488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90C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Making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271516" y="4617720"/>
            <a:ext cx="1645920" cy="0"/>
          </a:xfrm>
          <a:prstGeom prst="line">
            <a:avLst/>
          </a:prstGeom>
          <a:noFill/>
          <a:ln w="25400">
            <a:solidFill>
              <a:srgbClr val="E6B91E"/>
            </a:solidFill>
            <a:prstDash val="solid"/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Data-Driven Decision Making (DDDM)?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DDDM = making decisions based on data analysis &amp; interpretation, not just intuition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collecting, analyzing &amp; acting on relevant data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across marketing, operations, finance &amp; strategy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more objective, evidence-based &amp; consistent decisions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Data-Driven Decision Making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DDDM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the question/goal clearly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Collect relevant, high-quality data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Analyze data for patterns &amp; trends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Interpret results in business context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Act on insights &amp; measure outcomes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Data-Driven Decision Making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Data-Driven Decision Making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objective, evidence-based decisions (less guesswork)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accuracy &amp; speed of decision-making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trends, risks &amp; opportunities early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accountability — decisions can be justified with evidence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organizational performance over time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Data-Driven Decision Making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 in DDDM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poor-quality or incomplete data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bias — cherry-picking data that supports existing beliefs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on data while ignoring context &amp; human judgment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paralysis — too much data delays action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Misinterpreting correlation as causation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Data-Driven Decision Making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C3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914400"/>
            <a:ext cx="3108960" cy="3108960"/>
          </a:xfrm>
          <a:prstGeom prst="ellipse">
            <a:avLst/>
          </a:prstGeom>
          <a:solidFill>
            <a:srgbClr val="90C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457200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Points to Remember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960120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C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DDDM = evidence-based decisions instead of pure intuition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Define → Collect → Analyze → Interpret → Act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benefit: more objective, accountable, faster decisions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bad data or bias can still lead to bad decisions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F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90C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4114800"/>
            <a:ext cx="4114800" cy="4114800"/>
          </a:xfrm>
          <a:prstGeom prst="ellipse">
            <a:avLst/>
          </a:prstGeom>
          <a:solidFill>
            <a:srgbClr val="E6B91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488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90C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Discussions &amp;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Examples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271516" y="4617720"/>
            <a:ext cx="1645920" cy="0"/>
          </a:xfrm>
          <a:prstGeom prst="line">
            <a:avLst/>
          </a:prstGeom>
          <a:noFill/>
          <a:ln w="25400">
            <a:solidFill>
              <a:srgbClr val="E6B91E"/>
            </a:solidFill>
            <a:prstDash val="solid"/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Scenario Analysis?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of creating &amp; evaluating different possible future situations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Typically: best case, worst case, and most-likely case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anticipate risks/opportunities &amp; support strategic planning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organizations avoid being blindsided by sudden changes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Case Discussions &amp; Real-Life Examples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Example: Sales Revenue Scenario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"What happens to profit if sales rise or fall?"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case: sales +30% | Most likely: sales +10% | Worst case: sales −15%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calculates revenue/profit under each scenario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informed: stock levels, hiring, discounts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Case Discussions &amp; Real-Life Examples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Example: New Product Launch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"Should we launch a new product next year?"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case: high demand, low competition → high profit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likely: moderate demand → average profit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low demand, high marketing cost → loss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proceed, delay, or cancel the launch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Case Discussions &amp; Real-Life Examples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Aspects of Scenario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multiple possible futures, not a single forecast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both risks and opportunities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multiple variables at once (unlike sensitivity analysis)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contingency planning for unexpected events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Case Discussions &amp; Real-Life Examples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Scenario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 — forecasting cash flow &amp; business value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— identifying &amp; mitigating external risks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initiatives — long-term strategy evaluation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decisions — evaluating potential returns &amp; risks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Case Discussions &amp; Real-Life Examples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2C3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914400"/>
            <a:ext cx="3108960" cy="3108960"/>
          </a:xfrm>
          <a:prstGeom prst="ellipse">
            <a:avLst/>
          </a:prstGeom>
          <a:solidFill>
            <a:srgbClr val="90C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457200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Points to Remember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960120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C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Discussions &amp; Real-Life Examples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 = best case / most-likely / worst case evaluation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sales forecasting, product launches, financial &amp; investment planning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Differs from sensitivity analysis — changes many variables together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better strategic decisions &amp; contingency planning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F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90C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4114800"/>
            <a:ext cx="4114800" cy="4114800"/>
          </a:xfrm>
          <a:prstGeom prst="ellipse">
            <a:avLst/>
          </a:prstGeom>
          <a:solidFill>
            <a:srgbClr val="E6B91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488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90C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Governance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Data Ethics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271516" y="4617720"/>
            <a:ext cx="1645920" cy="0"/>
          </a:xfrm>
          <a:prstGeom prst="line">
            <a:avLst/>
          </a:prstGeom>
          <a:noFill/>
          <a:ln w="25400">
            <a:solidFill>
              <a:srgbClr val="E6B91E"/>
            </a:solidFill>
            <a:prstDash val="solid"/>
          </a:ln>
        </p:spPr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 Governance?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rules, roles &amp; processes ensuring data is correct, secure &amp; used responsibly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 accuracy &amp; consistency, protection from misuse, clear ownership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compliance with laws/regulations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data trustworthy for reporting &amp; decisions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Data Governance &amp; Data Ethics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Elements of Data Governance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rules &amp; responsibilities — who can do what with data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data quality &amp; integrity across its life cycle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security &amp; privacy (aligned with GDPR/HIPAA-type rules)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usability, accessibility &amp; supports better decision-making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Data Governance &amp; Data Ethics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Data Governance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 quality — fewer errors, duplicates &amp; outdated records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Better, more confident decision-making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data security &amp; privacy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with laws &amp; regulations — avoids fines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Data Governance &amp; Data Ethics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Data Governance (contd.)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roles &amp; responsibilities (data owners, stewards, users)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data across systems (CRM, ERP, reports match)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costs &amp; higher operational efficiency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support for BI, dashboards &amp; analytics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Data Governance &amp; Data Ethics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Ethical Use of Data?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principles like consent, transparency, fairness &amp; accountability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clear permission before collecting personal data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data use doesn't create bias or discrimination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responsible for data throughout its life cycle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Data Governance &amp; Data Ethics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Principles of Data Ethics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Transparency — inform people what's collected &amp; why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Non-Discrimination — avoid biased outcomes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 — collect only what's necessary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— take responsibility for data handling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Security, Integrity &amp; Quality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Data Governance &amp; Data Ethics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vs CCPA: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protect individuals' personal data &amp; give them control over it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— broad EU privacy framework; strong on consent &amp; data minimization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— US (California) law; strong on consumer's "right to opt out of data sale"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Data Governance &amp; Data Ethics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vs CCPA: Key Differences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17352" cy="914400"/>
        </p:xfrm>
        <a:graphic>
          <a:graphicData uri="http://schemas.openxmlformats.org/drawingml/2006/table">
            <a:tbl>
              <a:tblPr/>
              <a:tblGrid>
                <a:gridCol w="3605784"/>
                <a:gridCol w="3605784"/>
                <a:gridCol w="3605784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CCPA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C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Jurisdiction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/ EEA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California, USA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Who's Protected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individual in the EU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California residents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Basis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opt-in consent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Opt-out of data sale/sharing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€20M or 4% global turnover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$2,500–$7,500 per violation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Data Governance &amp; Data Ethics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Compliance to Culture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108173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data practice should be embedded in company culture, not just a checklist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ensures the minimum legal standard is met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data-ethics culture builds long-term trust with customers &amp; regulators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training &amp; leadership commitment sustain responsible data practices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71432" y="502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Data Governance &amp; Data Ethics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2C3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914400"/>
            <a:ext cx="3108960" cy="3108960"/>
          </a:xfrm>
          <a:prstGeom prst="ellipse">
            <a:avLst/>
          </a:prstGeom>
          <a:solidFill>
            <a:srgbClr val="90C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457200"/>
            <a:ext cx="10268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Points to Remember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960120"/>
            <a:ext cx="10268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C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Data Ethics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8173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= policies + rules + roles to keep data accurate &amp; secure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Ethics = principles for responsible data use: consent, fairness, minimization, accountability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(EU) is opt-in &amp; broader; CCPA (California) is opt-out &amp; narrower in scope</a:t>
            </a:r>
            <a:endParaRPr lang="en-US" sz="1600" dirty="0"/>
          </a:p>
          <a:p>
            <a:pPr marL="254000" indent="-254000">
              <a:lnSpc>
                <a:spcPct val="120000"/>
              </a:lnSpc>
              <a:spcAft>
                <a:spcPts val="1600"/>
              </a:spcAft>
              <a:buSzPct val="100000"/>
              <a:buChar char="✦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governance + ethics = trustworthy data + legal compliance + a stronger reputation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F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90C22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4114800"/>
            <a:ext cx="4114800" cy="4114800"/>
          </a:xfrm>
          <a:prstGeom prst="ellipse">
            <a:avLst/>
          </a:prstGeom>
          <a:solidFill>
            <a:srgbClr val="E6B91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488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90C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CONFIDENT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3601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Questions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Answers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271516" y="4617720"/>
            <a:ext cx="1645920" cy="0"/>
          </a:xfrm>
          <a:prstGeom prst="line">
            <a:avLst/>
          </a:prstGeom>
          <a:noFill/>
          <a:ln w="25400">
            <a:solidFill>
              <a:srgbClr val="E6B91E"/>
            </a:solidFill>
            <a:prstDash val="solid"/>
          </a:ln>
        </p:spPr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Interview Questions &amp; Answers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960120"/>
            <a:ext cx="822960" cy="45720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5F7F3"/>
          </a:solidFill>
          <a:ln/>
          <a:effectLst>
            <a:outerShdw sx="100000" sy="100000" kx="0" ky="0" algn="bl" rotWithShape="0" blurRad="76200" dist="25400" dir="5400000">
              <a:srgbClr val="9AAA9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08760"/>
            <a:ext cx="384048" cy="384048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46304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Information Technology?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384048" cy="384048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10312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of computers, software, networks &amp; systems to store, process and manage information.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5F7F3"/>
          </a:solidFill>
          <a:ln/>
          <a:effectLst>
            <a:outerShdw sx="100000" sy="100000" kx="0" ky="0" algn="bl" rotWithShape="0" blurRad="76200" dist="25400" dir="5400000">
              <a:srgbClr val="9AAA9F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069080"/>
            <a:ext cx="384048" cy="384048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02336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ERP and CRM?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4709160"/>
            <a:ext cx="384048" cy="384048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66344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manages internal operations (finance, HR, inventory); CRM manages customer-facing activities (sales, service).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 (1/6)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Interview Questions &amp; Answers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960120"/>
            <a:ext cx="822960" cy="45720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5F7F3"/>
          </a:solidFill>
          <a:ln/>
          <a:effectLst>
            <a:outerShdw sx="100000" sy="100000" kx="0" ky="0" algn="bl" rotWithShape="0" blurRad="76200" dist="25400" dir="5400000">
              <a:srgbClr val="9AAA9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08760"/>
            <a:ext cx="384048" cy="384048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46304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structured and unstructured data?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384048" cy="384048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10312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fits fixed rows/columns (e.g., SQL tables); unstructured data has no fixed format (e.g., images, videos).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5F7F3"/>
          </a:solidFill>
          <a:ln/>
          <a:effectLst>
            <a:outerShdw sx="100000" sy="100000" kx="0" ky="0" algn="bl" rotWithShape="0" blurRad="76200" dist="25400" dir="5400000">
              <a:srgbClr val="9AAA9F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069080"/>
            <a:ext cx="384048" cy="384048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02336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Business Analyst do?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4709160"/>
            <a:ext cx="384048" cy="384048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66344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business needs and technical solutions — gathers requirements, analyzes data, and guides process improvement.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 (2/6)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Interview Questions &amp; Answers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960120"/>
            <a:ext cx="822960" cy="45720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5F7F3"/>
          </a:solidFill>
          <a:ln/>
          <a:effectLst>
            <a:outerShdw sx="100000" sy="100000" kx="0" ky="0" algn="bl" rotWithShape="0" blurRad="76200" dist="25400" dir="5400000">
              <a:srgbClr val="9AAA9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08760"/>
            <a:ext cx="384048" cy="384048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46304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choose Agile over Waterfall?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384048" cy="384048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10312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requirements may change, fast iterative delivery matters, and continuous customer feedback is valuable.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5F7F3"/>
          </a:solidFill>
          <a:ln/>
          <a:effectLst>
            <a:outerShdw sx="100000" sy="100000" kx="0" ky="0" algn="bl" rotWithShape="0" blurRad="76200" dist="25400" dir="5400000">
              <a:srgbClr val="9AAA9F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069080"/>
            <a:ext cx="384048" cy="384048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02336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data and information?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4709160"/>
            <a:ext cx="384048" cy="384048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66344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raw, unorganized facts; information is data that's been processed and given context/meaning.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 (3/6)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Interview Questions &amp; Answers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960120"/>
            <a:ext cx="822960" cy="45720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5F7F3"/>
          </a:solidFill>
          <a:ln/>
          <a:effectLst>
            <a:outerShdw sx="100000" sy="100000" kx="0" ky="0" algn="bl" rotWithShape="0" blurRad="76200" dist="25400" dir="5400000">
              <a:srgbClr val="9AAA9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08760"/>
            <a:ext cx="384048" cy="384048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46304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data-driven decision making?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384048" cy="384048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10312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 based on data analysis and evidence rather than intuition alone.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5F7F3"/>
          </a:solidFill>
          <a:ln/>
          <a:effectLst>
            <a:outerShdw sx="100000" sy="100000" kx="0" ky="0" algn="bl" rotWithShape="0" blurRad="76200" dist="25400" dir="5400000">
              <a:srgbClr val="9AAA9F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069080"/>
            <a:ext cx="384048" cy="384048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02336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governance?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4709160"/>
            <a:ext cx="384048" cy="384048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66344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policies, rules and roles that ensure data stays accurate, secure, and is used responsibly.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 (4/6)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Interview Questions &amp; Answers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960120"/>
            <a:ext cx="822960" cy="45720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5F7F3"/>
          </a:solidFill>
          <a:ln/>
          <a:effectLst>
            <a:outerShdw sx="100000" sy="100000" kx="0" ky="0" algn="bl" rotWithShape="0" blurRad="76200" dist="25400" dir="5400000">
              <a:srgbClr val="9AAA9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08760"/>
            <a:ext cx="384048" cy="384048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46304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GDPR and CCPA?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384048" cy="384048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10312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is a broad EU law requiring opt-in consent; CCPA is a California law focused on the right to opt out of data sale.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5F7F3"/>
          </a:solidFill>
          <a:ln/>
          <a:effectLst>
            <a:outerShdw sx="100000" sy="100000" kx="0" ky="0" algn="bl" rotWithShape="0" blurRad="76200" dist="25400" dir="5400000">
              <a:srgbClr val="9AAA9F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069080"/>
            <a:ext cx="384048" cy="384048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02336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stakeholder management important in a project?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4709160"/>
            <a:ext cx="384048" cy="384048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66344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trust, surfaces complete requirements early, and reduces risk of misalignment or project failure.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 (5/6)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Interview Questions &amp; Answers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960120"/>
            <a:ext cx="822960" cy="45720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5F7F3"/>
          </a:solidFill>
          <a:ln/>
          <a:effectLst>
            <a:outerShdw sx="100000" sy="100000" kx="0" ky="0" algn="bl" rotWithShape="0" blurRad="76200" dist="25400" dir="5400000">
              <a:srgbClr val="9AAA9F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08760"/>
            <a:ext cx="384048" cy="384048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46304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scenario analysis used for?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384048" cy="384048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10312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best-case, worst-case and most-likely outcomes to support strategic and financial decisions.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5F7F3"/>
          </a:solidFill>
          <a:ln/>
          <a:effectLst>
            <a:outerShdw sx="100000" sy="100000" kx="0" ky="0" algn="bl" rotWithShape="0" blurRad="76200" dist="25400" dir="5400000">
              <a:srgbClr val="9AAA9F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069080"/>
            <a:ext cx="384048" cy="384048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02336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business strategy and IT strategy relate?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4709160"/>
            <a:ext cx="384048" cy="384048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663440"/>
            <a:ext cx="99943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 sets goals, IT strategy enables them, and alignment capability keeps both in sync over time.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 (6/6)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F7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Revision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188720"/>
            <a:ext cx="822960" cy="50292"/>
          </a:xfrm>
          <a:prstGeom prst="rect">
            <a:avLst/>
          </a:prstGeom>
          <a:solidFill>
            <a:srgbClr val="90C22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5362956" cy="822960"/>
          </a:xfrm>
          <a:prstGeom prst="roundRect">
            <a:avLst>
              <a:gd name="adj" fmla="val 6667"/>
            </a:avLst>
          </a:prstGeom>
          <a:solidFill>
            <a:srgbClr val="F5F7F3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773936"/>
            <a:ext cx="384048" cy="384048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1554480"/>
            <a:ext cx="4585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IT &amp; Business Systems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5916" y="1554480"/>
            <a:ext cx="5362956" cy="822960"/>
          </a:xfrm>
          <a:prstGeom prst="roundRect">
            <a:avLst>
              <a:gd name="adj" fmla="val 6667"/>
            </a:avLst>
          </a:prstGeom>
          <a:solidFill>
            <a:srgbClr val="F5F7F3"/>
          </a:solidFill>
          <a:ln/>
        </p:spPr>
      </p:sp>
      <p:sp>
        <p:nvSpPr>
          <p:cNvPr id="10" name="Shape 8"/>
          <p:cNvSpPr/>
          <p:nvPr/>
        </p:nvSpPr>
        <p:spPr>
          <a:xfrm>
            <a:off x="6350508" y="1773936"/>
            <a:ext cx="384048" cy="384048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11" name="Text 9"/>
          <p:cNvSpPr/>
          <p:nvPr/>
        </p:nvSpPr>
        <p:spPr>
          <a:xfrm>
            <a:off x="6350508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44284" y="1554480"/>
            <a:ext cx="4585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Sources &amp; Life Cycle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5362956" cy="822960"/>
          </a:xfrm>
          <a:prstGeom prst="roundRect">
            <a:avLst>
              <a:gd name="adj" fmla="val 6667"/>
            </a:avLst>
          </a:prstGeom>
          <a:solidFill>
            <a:srgbClr val="F5F7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2779776"/>
            <a:ext cx="384048" cy="384048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98448" y="2560320"/>
            <a:ext cx="4585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Business Analyst Role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85916" y="2560320"/>
            <a:ext cx="5362956" cy="822960"/>
          </a:xfrm>
          <a:prstGeom prst="roundRect">
            <a:avLst>
              <a:gd name="adj" fmla="val 6667"/>
            </a:avLst>
          </a:prstGeom>
          <a:solidFill>
            <a:srgbClr val="F5F7F3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0508" y="2779776"/>
            <a:ext cx="384048" cy="384048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508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44284" y="2560320"/>
            <a:ext cx="4585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vs. Information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5362956" cy="822960"/>
          </a:xfrm>
          <a:prstGeom prst="roundRect">
            <a:avLst>
              <a:gd name="adj" fmla="val 6667"/>
            </a:avLst>
          </a:prstGeom>
          <a:solidFill>
            <a:srgbClr val="F5F7F3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" y="3785616"/>
            <a:ext cx="384048" cy="384048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3566160"/>
            <a:ext cx="4585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85916" y="3566160"/>
            <a:ext cx="5362956" cy="822960"/>
          </a:xfrm>
          <a:prstGeom prst="roundRect">
            <a:avLst>
              <a:gd name="adj" fmla="val 6667"/>
            </a:avLst>
          </a:prstGeom>
          <a:solidFill>
            <a:srgbClr val="F5F7F3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0508" y="3785616"/>
            <a:ext cx="384048" cy="384048"/>
          </a:xfrm>
          <a:prstGeom prst="ellipse">
            <a:avLst/>
          </a:prstGeom>
          <a:solidFill>
            <a:srgbClr val="E6B91E"/>
          </a:solidFill>
          <a:ln/>
        </p:spPr>
      </p:sp>
      <p:sp>
        <p:nvSpPr>
          <p:cNvPr id="27" name="Text 25"/>
          <p:cNvSpPr/>
          <p:nvPr/>
        </p:nvSpPr>
        <p:spPr>
          <a:xfrm>
            <a:off x="6350508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44284" y="3566160"/>
            <a:ext cx="4585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Discussions &amp; Real-Life Examples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572000"/>
            <a:ext cx="5362956" cy="822960"/>
          </a:xfrm>
          <a:prstGeom prst="roundRect">
            <a:avLst>
              <a:gd name="adj" fmla="val 6667"/>
            </a:avLst>
          </a:prstGeom>
          <a:solidFill>
            <a:srgbClr val="F5F7F3"/>
          </a:solidFill>
          <a:ln/>
        </p:spPr>
      </p:sp>
      <p:sp>
        <p:nvSpPr>
          <p:cNvPr id="30" name="Shape 28"/>
          <p:cNvSpPr/>
          <p:nvPr/>
        </p:nvSpPr>
        <p:spPr>
          <a:xfrm>
            <a:off x="804672" y="4791456"/>
            <a:ext cx="384048" cy="384048"/>
          </a:xfrm>
          <a:prstGeom prst="ellipse">
            <a:avLst/>
          </a:prstGeom>
          <a:solidFill>
            <a:srgbClr val="90C226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98448" y="4572000"/>
            <a:ext cx="45857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Data Ethics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Revision Notes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Bharti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F2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90C22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41248" y="1234440"/>
            <a:ext cx="914400" cy="54864"/>
          </a:xfrm>
          <a:prstGeom prst="rect">
            <a:avLst/>
          </a:prstGeom>
          <a:solidFill>
            <a:srgbClr val="E6B9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104515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hardware, software, networking, data &amp; people to power modern business</a:t>
            </a:r>
            <a:endParaRPr lang="en-US" sz="1700" dirty="0"/>
          </a:p>
          <a:p>
            <a:pPr marL="254000" indent="-2540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centralizes operations; CRM centralizes customer relationships</a:t>
            </a:r>
            <a:endParaRPr lang="en-US" sz="1700" dirty="0"/>
          </a:p>
          <a:p>
            <a:pPr marL="254000" indent="-2540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comes in structured, semi-structured &amp; unstructured forms — from internal, external, third-party &amp; open sources</a:t>
            </a:r>
            <a:endParaRPr lang="en-US" sz="1700" dirty="0"/>
          </a:p>
          <a:p>
            <a:pPr marL="254000" indent="-2540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Analyst bridges business needs and technical solutions using Agile or Waterfall approaches</a:t>
            </a:r>
            <a:endParaRPr lang="en-US" sz="1700" dirty="0"/>
          </a:p>
          <a:p>
            <a:pPr marL="254000" indent="-2540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be governed and used ethically — accuracy, security, consent &amp; fairness all matter</a:t>
            </a:r>
            <a:endParaRPr lang="en-US" sz="1700" dirty="0"/>
          </a:p>
          <a:p>
            <a:pPr marL="254000" indent="-254000">
              <a:lnSpc>
                <a:spcPct val="120000"/>
              </a:lnSpc>
              <a:spcAft>
                <a:spcPts val="1800"/>
              </a:spcAft>
              <a:buSzPct val="100000"/>
              <a:buChar char="✦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decisions are data-driven, evidence-based, and grounded in real scenario planning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6080760"/>
            <a:ext cx="1045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6B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best for your exam &amp; interview, Ankita!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92</Slides>
  <Notes>92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2026-07-28T06:00:28Z</dcterms:created>
  <dcterms:modified xsi:type="dcterms:W3CDTF">2026-07-28T06:00:28Z</dcterms:modified>
</cp:coreProperties>
</file>