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embeddedFontLst>
    <p:embeddedFont>
      <p:font typeface="Plus Jakarta Sans"/>
      <p:bold r:id="rId18"/>
    </p:embeddedFont>
    <p:embeddedFont>
      <p:font typeface="Space Grotesk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607" y="5971877"/>
            <a:ext cx="112204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05850" y="485775"/>
            <a:ext cx="3000375" cy="323850"/>
          </a:xfrm>
          <a:prstGeom prst="roundRect">
            <a:avLst>
              <a:gd name="adj" fmla="val 17647"/>
            </a:avLst>
          </a:prstGeom>
          <a:solidFill>
            <a:srgbClr val="1A1508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11342" y="1835050"/>
            <a:ext cx="4294882" cy="1857375"/>
          </a:xfrm>
          <a:prstGeom prst="roundRect">
            <a:avLst>
              <a:gd name="adj" fmla="val 4102"/>
            </a:avLst>
          </a:prstGeom>
          <a:solidFill>
            <a:srgbClr val="D1B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5775" y="5971877"/>
            <a:ext cx="112204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11342" y="3673375"/>
            <a:ext cx="4294882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11342" y="1835050"/>
            <a:ext cx="4294882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11342" y="1835050"/>
            <a:ext cx="57150" cy="185737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687175" y="1835050"/>
            <a:ext cx="19050" cy="1857375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39200" y="542925"/>
            <a:ext cx="28289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ACC15"/>
                </a:solidFill>
                <a:latin typeface="Plus Jakarta Sans"/>
              </a:rPr>
              <a:t>SECTION 1 — DASHBOARD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105227"/>
            <a:ext cx="18594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01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775" y="1898451"/>
            <a:ext cx="208755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8FAFC"/>
                </a:solidFill>
                <a:latin typeface="Space Grotesk"/>
              </a:rPr>
              <a:t>POWER BI DASHBOARD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775" y="2193726"/>
            <a:ext cx="8639751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111111"/>
                </a:solidFill>
                <a:latin typeface="Space Grotesk"/>
              </a:rPr>
              <a:t>Fraud Transaction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775" y="2868959"/>
            <a:ext cx="6677917" cy="497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sz="1425" b="0" i="0" u="none" dirty="0">
                <a:solidFill>
                  <a:srgbClr val="221D0E"/>
                </a:solidFill>
                <a:latin typeface="Plus Jakarta Sans"/>
              </a:rPr>
              <a:t>Comprehensive analysis of $1Bn fraudulent loss exposure across 250K transactions, identifying core threat triggers.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7092" y="2082700"/>
            <a:ext cx="449490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91C1C"/>
                </a:solidFill>
                <a:latin typeface="Space Grotesk"/>
              </a:rPr>
              <a:t>PREPARED 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7092" y="2320825"/>
            <a:ext cx="1359924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50" b="1" dirty="0">
                <a:solidFill>
                  <a:srgbClr val="111111"/>
                </a:solidFill>
                <a:latin typeface="Plus Jakarta Sans"/>
              </a:rPr>
              <a:t>ANKITA BHARTI</a:t>
            </a:r>
            <a:endParaRPr sz="1650" b="1" i="0" u="none" dirty="0">
              <a:solidFill>
                <a:srgbClr val="111111"/>
              </a:solidFill>
              <a:latin typeface="Plus Jakarta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97092" y="2625625"/>
            <a:ext cx="144751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A3014"/>
                </a:solidFill>
                <a:latin typeface="Plus Jakarta Sans"/>
              </a:rPr>
              <a:t>Student Code: AF0</a:t>
            </a:r>
            <a:r>
              <a:rPr lang="en-US" sz="1050" b="1" i="0" u="none" dirty="0">
                <a:solidFill>
                  <a:srgbClr val="3A3014"/>
                </a:solidFill>
                <a:latin typeface="Plus Jakarta Sans"/>
              </a:rPr>
              <a:t>307596</a:t>
            </a:r>
            <a:endParaRPr sz="1050" b="1" i="0" u="none" dirty="0">
              <a:solidFill>
                <a:srgbClr val="3A3014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743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2225" y="500955"/>
            <a:ext cx="1524000" cy="323850"/>
          </a:xfrm>
          <a:prstGeom prst="roundRect">
            <a:avLst>
              <a:gd name="adj" fmla="val 17647"/>
            </a:avLst>
          </a:prstGeom>
          <a:solidFill>
            <a:srgbClr val="1A1508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5775" y="2684115"/>
            <a:ext cx="2662237" cy="2057400"/>
          </a:xfrm>
          <a:prstGeom prst="roundRect">
            <a:avLst>
              <a:gd name="adj" fmla="val 3703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38512" y="2684115"/>
            <a:ext cx="2662237" cy="2057400"/>
          </a:xfrm>
          <a:prstGeom prst="roundRect">
            <a:avLst>
              <a:gd name="adj" fmla="val 3703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1250" y="2684115"/>
            <a:ext cx="2662237" cy="2057400"/>
          </a:xfrm>
          <a:prstGeom prst="roundRect">
            <a:avLst>
              <a:gd name="adj" fmla="val 3703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43987" y="2684115"/>
            <a:ext cx="2662237" cy="2057400"/>
          </a:xfrm>
          <a:prstGeom prst="roundRect">
            <a:avLst>
              <a:gd name="adj" fmla="val 3703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15575" y="558105"/>
            <a:ext cx="13525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ACC15"/>
                </a:solidFill>
                <a:latin typeface="Plus Jakarta Sans"/>
              </a:rPr>
              <a:t>15-Slide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295275"/>
            <a:ext cx="6060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STRUCTURE &amp; AGENDA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75" y="504825"/>
            <a:ext cx="6060281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Presentation Flow &amp; Section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2922240"/>
            <a:ext cx="990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Space Grotesk"/>
              </a:rPr>
              <a:t>SECTION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3169890"/>
            <a:ext cx="294411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Dashboard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8062" y="2922240"/>
            <a:ext cx="10096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Space Grotesk"/>
              </a:rPr>
              <a:t>SECTION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8062" y="3169890"/>
            <a:ext cx="294411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Chart Deep-Dives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224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Space Grotesk"/>
              </a:rPr>
              <a:t>SECTION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69890"/>
            <a:ext cx="294411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11111"/>
                </a:solidFill>
                <a:latin typeface="Plus Jakarta Sans"/>
              </a:rPr>
              <a:t>Spatial &amp; Sector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537" y="2922240"/>
            <a:ext cx="1019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Space Grotesk"/>
              </a:rPr>
              <a:t>SECTION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537" y="3169890"/>
            <a:ext cx="29384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Action &amp;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325" y="3503265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01: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Presenter Title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325" y="3760440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02: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Agenda &amp;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325" y="4017615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03: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Core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325" y="4274790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04: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Macro KPI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8062" y="3503265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05: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Hourly Velocity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8062" y="3760440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06: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Fraud Reason Drivers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8062" y="4017615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07: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Card Tier Risk 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8062" y="4274790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08: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Payment Rail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503265"/>
            <a:ext cx="23383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09: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Merchant Rating Matrix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3908077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 dirty="0">
                <a:solidFill>
                  <a:srgbClr val="221D0E"/>
                </a:solidFill>
                <a:latin typeface="Plus Jakarta Sans"/>
              </a:rPr>
              <a:t>Slide 10:</a:t>
            </a:r>
            <a:r>
              <a:rPr sz="1125" b="0" i="0" u="none" dirty="0">
                <a:solidFill>
                  <a:srgbClr val="221D0E"/>
                </a:solidFill>
                <a:latin typeface="Plus Jakarta Sans"/>
              </a:rPr>
              <a:t> State Fraud Exposure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74790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11: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Sector Treemap Loss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537" y="3503265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12: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Synthesis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537" y="3760440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13: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Business Action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537" y="4017615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14: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Projected Outcomes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537" y="4274790"/>
            <a:ext cx="280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221D0E"/>
                </a:solidFill>
                <a:latin typeface="Plus Jakarta Sans"/>
              </a:rPr>
              <a:t>Slide 15:</a:t>
            </a:r>
            <a:r>
              <a:rPr sz="1125" b="0" i="0" u="none">
                <a:solidFill>
                  <a:srgbClr val="221D0E"/>
                </a:solidFill>
                <a:latin typeface="Plus Jakarta Sans"/>
              </a:rPr>
              <a:t> Thank You &amp; Q&amp;A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90D3FC-15D1-CBAB-25AB-5F11E2CEA27E}"/>
              </a:ext>
            </a:extLst>
          </p:cNvPr>
          <p:cNvSpPr txBox="1"/>
          <p:nvPr/>
        </p:nvSpPr>
        <p:spPr>
          <a:xfrm>
            <a:off x="10944225" y="65627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02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47514-B2D3-415D-2EE5-975B9B09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B14B4E1E-A9FD-7415-A606-E6626F74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38" y="0"/>
            <a:ext cx="11720051" cy="623365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21178B4-2A8D-A5D7-2F71-F657F3519DA6}"/>
              </a:ext>
            </a:extLst>
          </p:cNvPr>
          <p:cNvSpPr txBox="1"/>
          <p:nvPr/>
        </p:nvSpPr>
        <p:spPr>
          <a:xfrm>
            <a:off x="10944225" y="65627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03 </a:t>
            </a:r>
            <a:endParaRPr sz="975" b="1" i="0" u="none" dirty="0">
              <a:solidFill>
                <a:srgbClr val="1A1508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737010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868025" y="500955"/>
            <a:ext cx="838200" cy="323850"/>
          </a:xfrm>
          <a:prstGeom prst="roundRect">
            <a:avLst>
              <a:gd name="adj" fmla="val 17647"/>
            </a:avLst>
          </a:prstGeom>
          <a:solidFill>
            <a:srgbClr val="1A1508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5775" y="4487912"/>
            <a:ext cx="11220450" cy="857250"/>
          </a:xfrm>
          <a:prstGeom prst="roundRect">
            <a:avLst>
              <a:gd name="adj" fmla="val 8888"/>
            </a:avLst>
          </a:prstGeom>
          <a:solidFill>
            <a:srgbClr val="D1B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5775" y="2080468"/>
            <a:ext cx="3587799" cy="2178843"/>
          </a:xfrm>
          <a:prstGeom prst="roundRect">
            <a:avLst>
              <a:gd name="adj" fmla="val 3497"/>
            </a:avLst>
          </a:prstGeom>
          <a:solidFill>
            <a:srgbClr val="B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02174" y="2080468"/>
            <a:ext cx="3587799" cy="2178843"/>
          </a:xfrm>
          <a:prstGeom prst="roundRect">
            <a:avLst>
              <a:gd name="adj" fmla="val 3497"/>
            </a:avLst>
          </a:prstGeom>
          <a:solidFill>
            <a:srgbClr val="B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18574" y="2200423"/>
            <a:ext cx="3587799" cy="1938932"/>
          </a:xfrm>
          <a:prstGeom prst="roundRect">
            <a:avLst>
              <a:gd name="adj" fmla="val 3929"/>
            </a:avLst>
          </a:prstGeom>
          <a:solidFill>
            <a:srgbClr val="B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5775" y="5326112"/>
            <a:ext cx="112204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5775" y="4487912"/>
            <a:ext cx="112204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5775" y="4487912"/>
            <a:ext cx="57150" cy="85725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687175" y="4487912"/>
            <a:ext cx="19050" cy="8572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5775" y="4240262"/>
            <a:ext cx="3587799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5775" y="2080468"/>
            <a:ext cx="3587799" cy="4762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5775" y="2080468"/>
            <a:ext cx="19050" cy="2178843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54524" y="2080468"/>
            <a:ext cx="19050" cy="2178843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02174" y="4240262"/>
            <a:ext cx="3587799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02174" y="2080468"/>
            <a:ext cx="3587799" cy="47625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02174" y="2080468"/>
            <a:ext cx="19050" cy="2178843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70924" y="2080468"/>
            <a:ext cx="19050" cy="2178843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8574" y="4120306"/>
            <a:ext cx="3587799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18574" y="2200423"/>
            <a:ext cx="3587799" cy="4762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18574" y="2200423"/>
            <a:ext cx="19050" cy="1938932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687323" y="2200423"/>
            <a:ext cx="19050" cy="1938932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318593"/>
            <a:ext cx="304800" cy="3048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724" y="2318593"/>
            <a:ext cx="342900" cy="3048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124" y="2438548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001375" y="558105"/>
            <a:ext cx="6667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ACC15"/>
                </a:solidFill>
                <a:latin typeface="Plus Jakarta Sans"/>
              </a:rPr>
              <a:t>Slide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44225" y="65627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0</a:t>
            </a:r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4</a:t>
            </a:r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775" y="295275"/>
            <a:ext cx="5703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STRATEGIC PURPOSE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775" y="504825"/>
            <a:ext cx="5703093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Dashboard Core Objectives &amp;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525" y="4697462"/>
            <a:ext cx="10439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Primary Target: Convert raw transaction logs into actionable authorization safeguards to protect $4Bn in total payment volume.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325" y="2756743"/>
            <a:ext cx="41589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111"/>
                </a:solidFill>
                <a:latin typeface="Plus Jakarta Sans"/>
              </a:rPr>
              <a:t>Detect Threat Vectors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3090118"/>
            <a:ext cx="3263949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A1508"/>
                </a:solidFill>
                <a:latin typeface="Plus Jakarta Sans"/>
              </a:rPr>
              <a:t>Root Cause Isolation:</a:t>
            </a:r>
            <a:r>
              <a:rPr sz="1350" b="0" i="0" u="none">
                <a:solidFill>
                  <a:srgbClr val="1A1508"/>
                </a:solidFill>
                <a:latin typeface="Plus Jakarta Sans"/>
              </a:rPr>
              <a:t> Identify system logic gaps including expired cards, high-risk merchant categories, and off-hour transaction anomalies.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1724" y="2756743"/>
            <a:ext cx="415891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111"/>
                </a:solidFill>
                <a:latin typeface="Plus Jakarta Sans"/>
              </a:rPr>
              <a:t>Loss Distribution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11724" y="3090118"/>
            <a:ext cx="3263949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A1508"/>
                </a:solidFill>
                <a:latin typeface="Plus Jakarta Sans"/>
              </a:rPr>
              <a:t>Financial Quantification:</a:t>
            </a:r>
            <a:r>
              <a:rPr sz="1350" b="0" i="0" u="none">
                <a:solidFill>
                  <a:srgbClr val="1A1508"/>
                </a:solidFill>
                <a:latin typeface="Plus Jakarta Sans"/>
              </a:rPr>
              <a:t> Measure loss exposure across 15 states, payment methods, card tiers, and vulnerable industry sectors.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8124" y="2876698"/>
            <a:ext cx="3863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111"/>
                </a:solidFill>
                <a:latin typeface="Plus Jakarta Sans"/>
              </a:rPr>
              <a:t>Governance 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8124" y="3210073"/>
            <a:ext cx="32639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1A1508"/>
                </a:solidFill>
                <a:latin typeface="Plus Jakarta Sans"/>
              </a:rPr>
              <a:t>Mitigation Controls:</a:t>
            </a:r>
            <a:r>
              <a:rPr sz="1350" b="0" i="0" u="none">
                <a:solidFill>
                  <a:srgbClr val="1A1508"/>
                </a:solidFill>
                <a:latin typeface="Plus Jakarta Sans"/>
              </a:rPr>
              <a:t> Formulate target authorization rules, dynamic 3DS filters, and regional risk scoring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67925" y="500955"/>
            <a:ext cx="1638300" cy="323850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5775" y="4484340"/>
            <a:ext cx="11220450" cy="857250"/>
          </a:xfrm>
          <a:prstGeom prst="roundRect">
            <a:avLst>
              <a:gd name="adj" fmla="val 8888"/>
            </a:avLst>
          </a:prstGeom>
          <a:solidFill>
            <a:srgbClr val="D1B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5775" y="2084040"/>
            <a:ext cx="2690812" cy="1057275"/>
          </a:xfrm>
          <a:prstGeom prst="roundRect">
            <a:avLst>
              <a:gd name="adj" fmla="val 7207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28987" y="2084040"/>
            <a:ext cx="2690812" cy="1057275"/>
          </a:xfrm>
          <a:prstGeom prst="roundRect">
            <a:avLst>
              <a:gd name="adj" fmla="val 7207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2084040"/>
            <a:ext cx="2690812" cy="1057275"/>
          </a:xfrm>
          <a:prstGeom prst="roundRect">
            <a:avLst>
              <a:gd name="adj" fmla="val 7207"/>
            </a:avLst>
          </a:prstGeom>
          <a:solidFill>
            <a:srgbClr val="D1B45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15412" y="2084040"/>
            <a:ext cx="2690812" cy="1057275"/>
          </a:xfrm>
          <a:prstGeom prst="roundRect">
            <a:avLst>
              <a:gd name="adj" fmla="val 7207"/>
            </a:avLst>
          </a:prstGeom>
          <a:solidFill>
            <a:srgbClr val="D1B45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5775" y="3331815"/>
            <a:ext cx="5514975" cy="962025"/>
          </a:xfrm>
          <a:prstGeom prst="roundRect">
            <a:avLst>
              <a:gd name="adj" fmla="val 7920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1250" y="3331815"/>
            <a:ext cx="5514975" cy="962025"/>
          </a:xfrm>
          <a:prstGeom prst="roundRect">
            <a:avLst>
              <a:gd name="adj" fmla="val 7920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5775" y="5322540"/>
            <a:ext cx="112204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5775" y="4484340"/>
            <a:ext cx="112204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5775" y="4484340"/>
            <a:ext cx="57150" cy="85725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687175" y="4484340"/>
            <a:ext cx="19050" cy="8572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3641377"/>
            <a:ext cx="342900" cy="3429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675" y="3641377"/>
            <a:ext cx="3429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01275" y="558105"/>
            <a:ext cx="14668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$1Bn Fraud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34700" y="65627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0</a:t>
            </a:r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5</a:t>
            </a:r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775" y="295275"/>
            <a:ext cx="6107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DASHBOARD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775" y="504825"/>
            <a:ext cx="1953805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111111"/>
                </a:solidFill>
                <a:latin typeface="Space Grotesk"/>
              </a:rPr>
              <a:t>Financial Metrics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" y="4693890"/>
            <a:ext cx="108585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Critical Finding:</a:t>
            </a:r>
            <a:r>
              <a:rPr sz="1350" b="0" i="0" u="none">
                <a:solidFill>
                  <a:srgbClr val="111111"/>
                </a:solidFill>
                <a:latin typeface="Plus Jakarta Sans"/>
              </a:rPr>
              <a:t> Fraudulent incidents account for 5.2% of transaction count, but carry </a:t>
            </a:r>
            <a:r>
              <a:rPr sz="1350" b="1" i="0" u="none">
                <a:solidFill>
                  <a:srgbClr val="111111"/>
                </a:solidFill>
                <a:latin typeface="Plus Jakarta Sans"/>
              </a:rPr>
              <a:t>25% of total monetary value ($1Bn of $4Bn)</a:t>
            </a:r>
            <a:r>
              <a:rPr sz="1350" b="0" i="0" u="none">
                <a:solidFill>
                  <a:srgbClr val="111111"/>
                </a:solidFill>
                <a:latin typeface="Plus Jakarta Sans"/>
              </a:rPr>
              <a:t>, demonstrating high ticket targeting.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360" y="2293590"/>
            <a:ext cx="283964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1" i="0" u="none">
                <a:solidFill>
                  <a:srgbClr val="111111"/>
                </a:solidFill>
                <a:latin typeface="Space Grotesk"/>
              </a:rPr>
              <a:t>250K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360" y="2750790"/>
            <a:ext cx="28396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6200D"/>
                </a:solidFill>
                <a:latin typeface="Plus Jakarta Sans"/>
              </a:rPr>
              <a:t>Total Transactions Logged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54573" y="2293590"/>
            <a:ext cx="283964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1" i="0" u="none">
                <a:solidFill>
                  <a:srgbClr val="111111"/>
                </a:solidFill>
                <a:latin typeface="Space Grotesk"/>
              </a:rPr>
              <a:t>$4Bn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4573" y="2750790"/>
            <a:ext cx="28396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6200D"/>
                </a:solidFill>
                <a:latin typeface="Plus Jakarta Sans"/>
              </a:rPr>
              <a:t>Total Transaction Volume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7785" y="2293590"/>
            <a:ext cx="283964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1" i="0" u="none">
                <a:solidFill>
                  <a:srgbClr val="B91C1C"/>
                </a:solidFill>
                <a:latin typeface="Space Grotesk"/>
              </a:rPr>
              <a:t>13K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7785" y="2750790"/>
            <a:ext cx="28396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B91C1C"/>
                </a:solidFill>
                <a:latin typeface="Plus Jakarta Sans"/>
              </a:rPr>
              <a:t>Fraud Transactions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0998" y="2293590"/>
            <a:ext cx="283964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1" i="0" u="none">
                <a:solidFill>
                  <a:srgbClr val="B91C1C"/>
                </a:solidFill>
                <a:latin typeface="Space Grotesk"/>
              </a:rPr>
              <a:t>$1Bn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0998" y="2750790"/>
            <a:ext cx="283964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B91C1C"/>
                </a:solidFill>
                <a:latin typeface="Plus Jakarta Sans"/>
              </a:rPr>
              <a:t>Fraud Amount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425" y="3522315"/>
            <a:ext cx="17716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21D0E"/>
                </a:solidFill>
                <a:latin typeface="Plus Jakarta Sans"/>
              </a:rPr>
              <a:t>Fraud Exposure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8900" y="3522315"/>
            <a:ext cx="20193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21D0E"/>
                </a:solidFill>
                <a:latin typeface="Plus Jakarta Sans"/>
              </a:rPr>
              <a:t>Authorization Success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425" y="3722340"/>
            <a:ext cx="22002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B91C1C"/>
                </a:solidFill>
                <a:latin typeface="Space Grotesk"/>
              </a:rPr>
              <a:t>0.05 (5.2%)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8900" y="3722340"/>
            <a:ext cx="252531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Space Grotesk"/>
              </a:rPr>
              <a:t>0.91 (91.0%)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839325" y="500955"/>
            <a:ext cx="1866900" cy="323850"/>
          </a:xfrm>
          <a:prstGeom prst="roundRect">
            <a:avLst>
              <a:gd name="adj" fmla="val 17647"/>
            </a:avLst>
          </a:prstGeom>
          <a:solidFill>
            <a:srgbClr val="1A1508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5775" y="2384077"/>
            <a:ext cx="6199882" cy="2657475"/>
          </a:xfrm>
          <a:prstGeom prst="roundRect">
            <a:avLst>
              <a:gd name="adj" fmla="val 2867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52357" y="2312640"/>
            <a:ext cx="4753867" cy="1323975"/>
          </a:xfrm>
          <a:prstGeom prst="roundRect">
            <a:avLst>
              <a:gd name="adj" fmla="val 5755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3365152"/>
            <a:ext cx="5704582" cy="1047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72675" y="558105"/>
            <a:ext cx="16954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ACC15"/>
                </a:solidFill>
                <a:latin typeface="Plus Jakarta Sans"/>
              </a:rPr>
              <a:t>Temporal Velocity 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4225" y="65627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0</a:t>
            </a:r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6</a:t>
            </a:r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775" y="295275"/>
            <a:ext cx="7215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DASHBOARD ANALYSIS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775" y="504825"/>
            <a:ext cx="7215187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Fraud Transaction by Transaction Hour (Bins)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" y="2631727"/>
            <a:ext cx="200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111"/>
                </a:solidFill>
                <a:latin typeface="Plus Jakarta Sans"/>
              </a:rPr>
              <a:t>Hour Bins Breakdown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6457" y="2655540"/>
            <a:ext cx="12573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91C1C"/>
                </a:solidFill>
                <a:latin typeface="Plus Jakarta Sans"/>
              </a:rPr>
              <a:t>Bin Size: 5 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1907" y="2798415"/>
            <a:ext cx="443001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A1508"/>
                </a:solidFill>
                <a:latin typeface="Plus Jakarta Sans"/>
              </a:rPr>
              <a:t>Midnight Surge:</a:t>
            </a:r>
            <a:r>
              <a:rPr sz="1275" b="0" i="0" u="none">
                <a:solidFill>
                  <a:srgbClr val="1A1508"/>
                </a:solidFill>
                <a:latin typeface="Plus Jakarta Sans"/>
              </a:rPr>
              <a:t> Highest fraud velocity occurs at Hour 0 bin (3,522 cases), taking advantage of lowered off-peak authorization scrutiny.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3079402"/>
            <a:ext cx="1678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B91C1C"/>
                </a:solidFill>
                <a:latin typeface="Plus Jakarta Sans"/>
              </a:rPr>
              <a:t>Hour 0 Peak: 3,522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0732" y="3079402"/>
            <a:ext cx="13430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11111"/>
                </a:solidFill>
                <a:latin typeface="Plus Jakarta Sans"/>
              </a:rPr>
              <a:t>Hour 20: 3,328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" y="4517677"/>
            <a:ext cx="12287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A1508"/>
                </a:solidFill>
                <a:latin typeface="Plus Jakarta Sans"/>
              </a:rPr>
              <a:t>Bin 0 (Midnight)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827" y="4517677"/>
            <a:ext cx="571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A1508"/>
                </a:solidFill>
                <a:latin typeface="Plus Jakarta Sans"/>
              </a:rPr>
              <a:t>Bin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004" y="4517677"/>
            <a:ext cx="14097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A1508"/>
                </a:solidFill>
                <a:latin typeface="Plus Jakarta Sans"/>
              </a:rPr>
              <a:t>Bin 10 (Low: 3,274)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8382" y="4517677"/>
            <a:ext cx="10953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A1508"/>
                </a:solidFill>
                <a:latin typeface="Plus Jakarta Sans"/>
              </a:rPr>
              <a:t>Bin 20 (Night)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63175" y="500955"/>
            <a:ext cx="1543050" cy="323850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5775" y="2507902"/>
            <a:ext cx="6165205" cy="2409825"/>
          </a:xfrm>
          <a:prstGeom prst="roundRect">
            <a:avLst>
              <a:gd name="adj" fmla="val 3162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17680" y="2312640"/>
            <a:ext cx="4788544" cy="1323975"/>
          </a:xfrm>
          <a:prstGeom prst="roundRect">
            <a:avLst>
              <a:gd name="adj" fmla="val 5755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17680" y="3789015"/>
            <a:ext cx="4788544" cy="1323975"/>
          </a:xfrm>
          <a:prstGeom prst="roundRect">
            <a:avLst>
              <a:gd name="adj" fmla="val 5755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5325" y="3260377"/>
            <a:ext cx="5746105" cy="133350"/>
          </a:xfrm>
          <a:prstGeom prst="roundRect">
            <a:avLst>
              <a:gd name="adj" fmla="val 28571"/>
            </a:avLst>
          </a:prstGeom>
          <a:solidFill>
            <a:srgbClr val="B59641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5325" y="3698527"/>
            <a:ext cx="5746105" cy="133350"/>
          </a:xfrm>
          <a:prstGeom prst="roundRect">
            <a:avLst>
              <a:gd name="adj" fmla="val 28571"/>
            </a:avLst>
          </a:prstGeom>
          <a:solidFill>
            <a:srgbClr val="B59641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5325" y="4136677"/>
            <a:ext cx="5746105" cy="133350"/>
          </a:xfrm>
          <a:prstGeom prst="roundRect">
            <a:avLst>
              <a:gd name="adj" fmla="val 28571"/>
            </a:avLst>
          </a:prstGeom>
          <a:solidFill>
            <a:srgbClr val="B59641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5325" y="4574827"/>
            <a:ext cx="5746105" cy="133350"/>
          </a:xfrm>
          <a:prstGeom prst="roundRect">
            <a:avLst>
              <a:gd name="adj" fmla="val 28571"/>
            </a:avLst>
          </a:prstGeom>
          <a:solidFill>
            <a:srgbClr val="B59641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4850" y="3269902"/>
            <a:ext cx="5727055" cy="1143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850" y="3708052"/>
            <a:ext cx="4123432" cy="1143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4850" y="4146202"/>
            <a:ext cx="3894385" cy="1143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4850" y="4584352"/>
            <a:ext cx="2577107" cy="11430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230" y="2560290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230" y="4036665"/>
            <a:ext cx="19050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96525" y="558105"/>
            <a:ext cx="13716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Root Cause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44225" y="65627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0</a:t>
            </a:r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7</a:t>
            </a:r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775" y="295275"/>
            <a:ext cx="5512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DASHBOARD ANALYSIS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775" y="504825"/>
            <a:ext cx="5512593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Total Transaction by Fraud Reason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325" y="2717452"/>
            <a:ext cx="75417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111"/>
                </a:solidFill>
                <a:latin typeface="Plus Jakarta Sans"/>
              </a:rPr>
              <a:t>Fraud Cases by Trigger Reason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7230" y="2522190"/>
            <a:ext cx="5064769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11111"/>
                </a:solidFill>
                <a:latin typeface="Plus Jakarta Sans"/>
              </a:rPr>
              <a:t>Expired Card Vulnerability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7230" y="2798415"/>
            <a:ext cx="446469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 dirty="0">
                <a:solidFill>
                  <a:srgbClr val="1A1508"/>
                </a:solidFill>
                <a:latin typeface="Plus Jakarta Sans"/>
              </a:rPr>
              <a:t>2.5K Expired Card Cases:</a:t>
            </a:r>
            <a:r>
              <a:rPr sz="1275" b="0" i="0" u="none" dirty="0">
                <a:solidFill>
                  <a:srgbClr val="1A1508"/>
                </a:solidFill>
                <a:latin typeface="Plus Jakarta Sans"/>
              </a:rPr>
              <a:t> Authorization gateway fails to enforce immediate hard blocks on expired credentials before authorization.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7230" y="3998565"/>
            <a:ext cx="5064769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High-Risk Merchant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7230" y="4274790"/>
            <a:ext cx="446469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A1508"/>
                </a:solidFill>
                <a:latin typeface="Plus Jakarta Sans"/>
              </a:rPr>
              <a:t>1.8K Category Fraud:</a:t>
            </a:r>
            <a:r>
              <a:rPr sz="1275" b="0" i="0" u="none">
                <a:solidFill>
                  <a:srgbClr val="1A1508"/>
                </a:solidFill>
                <a:latin typeface="Plus Jakarta Sans"/>
              </a:rPr>
              <a:t> High-risk merchant categories lack step-up authentication requirements, facilitating rapid authorization exploitation.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325" y="3050827"/>
            <a:ext cx="2262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Transaction on Expired 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7105" y="3050827"/>
            <a:ext cx="600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Plus Jakarta Sans"/>
              </a:rPr>
              <a:t>2.5K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325" y="3488977"/>
            <a:ext cx="2333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High Risk Merchant 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5680" y="3488977"/>
            <a:ext cx="571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1.8K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325" y="3927127"/>
            <a:ext cx="2762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International / Credit Limit / Failed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1830" y="3927127"/>
            <a:ext cx="895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1.7K Each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325" y="4365277"/>
            <a:ext cx="2012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Blocked Card / Lost Card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7530" y="4365277"/>
            <a:ext cx="10096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0.8K – 1.6K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496550" y="500955"/>
            <a:ext cx="1209675" cy="323850"/>
          </a:xfrm>
          <a:prstGeom prst="roundRect">
            <a:avLst>
              <a:gd name="adj" fmla="val 17647"/>
            </a:avLst>
          </a:prstGeom>
          <a:solidFill>
            <a:srgbClr val="1A1508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5775" y="2460277"/>
            <a:ext cx="5724525" cy="2505075"/>
          </a:xfrm>
          <a:prstGeom prst="roundRect">
            <a:avLst>
              <a:gd name="adj" fmla="val 3041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77000" y="2417415"/>
            <a:ext cx="5229225" cy="1114425"/>
          </a:xfrm>
          <a:prstGeom prst="roundRect">
            <a:avLst>
              <a:gd name="adj" fmla="val 6837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3425" y="3079402"/>
            <a:ext cx="2547937" cy="752475"/>
          </a:xfrm>
          <a:prstGeom prst="roundRect">
            <a:avLst>
              <a:gd name="adj" fmla="val 10126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14712" y="3079402"/>
            <a:ext cx="2547937" cy="752475"/>
          </a:xfrm>
          <a:prstGeom prst="roundRect">
            <a:avLst>
              <a:gd name="adj" fmla="val 10126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3425" y="3965227"/>
            <a:ext cx="2547937" cy="752475"/>
          </a:xfrm>
          <a:prstGeom prst="roundRect">
            <a:avLst>
              <a:gd name="adj" fmla="val 10126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14712" y="3965227"/>
            <a:ext cx="2547937" cy="752475"/>
          </a:xfrm>
          <a:prstGeom prst="roundRect">
            <a:avLst>
              <a:gd name="adj" fmla="val 10126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665065"/>
            <a:ext cx="21907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29900" y="558105"/>
            <a:ext cx="10382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ACC15"/>
                </a:solidFill>
                <a:latin typeface="Plus Jakarta Sans"/>
              </a:rPr>
              <a:t>Card Tier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750" y="6562725"/>
            <a:ext cx="9297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8</a:t>
            </a:r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775" y="295275"/>
            <a:ext cx="5893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DASHBOARD ANALYSIS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775" y="504825"/>
            <a:ext cx="5893593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Fraud Rate Distribution by Card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83641" y="2707927"/>
            <a:ext cx="686335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11111"/>
                </a:solidFill>
                <a:latin typeface="Plus Jakarta Sans"/>
              </a:rPr>
              <a:t>Donut Breakdown by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6550" y="2657138"/>
            <a:ext cx="5505450" cy="2190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Uniform Tier Vulnerability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6550" y="2903190"/>
            <a:ext cx="490537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A1508"/>
                </a:solidFill>
                <a:latin typeface="Plus Jakarta Sans"/>
              </a:rPr>
              <a:t>~25% Equal Distribution:</a:t>
            </a:r>
            <a:r>
              <a:rPr sz="1275" b="0" i="0" u="none">
                <a:solidFill>
                  <a:srgbClr val="1A1508"/>
                </a:solidFill>
                <a:latin typeface="Plus Jakarta Sans"/>
              </a:rPr>
              <a:t> Fraud occurs at near identical rates across all four card tiers (Platinum, Gold, Classic, Silver).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432" y="3231802"/>
            <a:ext cx="28039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11111"/>
                </a:solidFill>
                <a:latin typeface="Plus Jakarta Sans"/>
              </a:rPr>
              <a:t>Platinum Tier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432" y="3384202"/>
            <a:ext cx="280392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Space Grotesk"/>
              </a:rPr>
              <a:t>25.78%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6720" y="3231802"/>
            <a:ext cx="28039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11111"/>
                </a:solidFill>
                <a:latin typeface="Plus Jakarta Sans"/>
              </a:rPr>
              <a:t>Gold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6720" y="3384202"/>
            <a:ext cx="280392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F8FAFC"/>
                </a:solidFill>
                <a:latin typeface="Space Grotesk"/>
              </a:rPr>
              <a:t>24.93%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432" y="4117627"/>
            <a:ext cx="28039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11111"/>
                </a:solidFill>
                <a:latin typeface="Plus Jakarta Sans"/>
              </a:rPr>
              <a:t>Classic 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432" y="4270027"/>
            <a:ext cx="280392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11111"/>
                </a:solidFill>
                <a:latin typeface="Space Grotesk"/>
              </a:rPr>
              <a:t>24.88%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6720" y="4117627"/>
            <a:ext cx="280392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11111"/>
                </a:solidFill>
                <a:latin typeface="Plus Jakarta Sans"/>
              </a:rPr>
              <a:t>Silver 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86720" y="4270027"/>
            <a:ext cx="2803921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A1508"/>
                </a:solidFill>
                <a:latin typeface="Space Grotesk"/>
              </a:rPr>
              <a:t>24.41%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06025" y="500955"/>
            <a:ext cx="1600200" cy="323850"/>
          </a:xfrm>
          <a:prstGeom prst="roundRect">
            <a:avLst>
              <a:gd name="adj" fmla="val 17647"/>
            </a:avLst>
          </a:prstGeom>
          <a:solidFill>
            <a:srgbClr val="1A1508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5775" y="2526952"/>
            <a:ext cx="6165205" cy="2371725"/>
          </a:xfrm>
          <a:prstGeom prst="roundRect">
            <a:avLst>
              <a:gd name="adj" fmla="val 3212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17680" y="2312640"/>
            <a:ext cx="4788544" cy="1323975"/>
          </a:xfrm>
          <a:prstGeom prst="roundRect">
            <a:avLst>
              <a:gd name="adj" fmla="val 5755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17680" y="3789015"/>
            <a:ext cx="4788544" cy="1323975"/>
          </a:xfrm>
          <a:prstGeom prst="roundRect">
            <a:avLst>
              <a:gd name="adj" fmla="val 5755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1496" y="3222277"/>
            <a:ext cx="1263997" cy="952500"/>
          </a:xfrm>
          <a:prstGeom prst="roundRect">
            <a:avLst>
              <a:gd name="adj" fmla="val 4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1496" y="4174777"/>
            <a:ext cx="1263997" cy="28575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17985" y="3508027"/>
            <a:ext cx="1263997" cy="714375"/>
          </a:xfrm>
          <a:prstGeom prst="roundRect">
            <a:avLst>
              <a:gd name="adj" fmla="val 5333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17985" y="4222402"/>
            <a:ext cx="1263997" cy="238125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4474" y="4174777"/>
            <a:ext cx="1263997" cy="28575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90963" y="4346227"/>
            <a:ext cx="1263997" cy="114300"/>
          </a:xfrm>
          <a:prstGeom prst="roundRect">
            <a:avLst>
              <a:gd name="adj" fmla="val 33333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230" y="2560290"/>
            <a:ext cx="1905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230" y="4036665"/>
            <a:ext cx="1333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39375" y="558105"/>
            <a:ext cx="14287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ACC15"/>
                </a:solidFill>
                <a:latin typeface="Plus Jakarta Sans"/>
              </a:rPr>
              <a:t>Channel Breakdown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4225" y="65627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0</a:t>
            </a:r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9</a:t>
            </a:r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775" y="295275"/>
            <a:ext cx="7750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DASHBOARD ANALYSIS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" y="504825"/>
            <a:ext cx="7750968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Transaction Count by Payment Method &amp;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325" y="2736502"/>
            <a:ext cx="75417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111"/>
                </a:solidFill>
                <a:latin typeface="Plus Jakarta Sans"/>
              </a:rPr>
              <a:t>Method vs Transaction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27230" y="2522190"/>
            <a:ext cx="5064769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Card Rails Dominate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27230" y="2798415"/>
            <a:ext cx="446469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A1508"/>
                </a:solidFill>
                <a:latin typeface="Plus Jakarta Sans"/>
              </a:rPr>
              <a:t>Debit &amp; Credit Concentration:</a:t>
            </a:r>
            <a:r>
              <a:rPr sz="1275" b="0" i="0" u="none">
                <a:solidFill>
                  <a:srgbClr val="1A1508"/>
                </a:solidFill>
                <a:latin typeface="Plus Jakarta Sans"/>
              </a:rPr>
              <a:t> Card channels represent over 80% of declined and failed fraud transaction attempts.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7230" y="3998565"/>
            <a:ext cx="5064769" cy="2190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UPI Security Resellers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7230" y="4274790"/>
            <a:ext cx="446469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A1508"/>
                </a:solidFill>
                <a:latin typeface="Plus Jakarta Sans"/>
              </a:rPr>
              <a:t>Lower UPI Fraud:</a:t>
            </a:r>
            <a:r>
              <a:rPr sz="1275" b="0" i="0" u="none">
                <a:solidFill>
                  <a:srgbClr val="1A1508"/>
                </a:solidFill>
                <a:latin typeface="Plus Jakarta Sans"/>
              </a:rPr>
              <a:t> UPI displays significantly lower successful fraud attempts due to mandatory real-time two-factor PIN validation.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496" y="3222277"/>
            <a:ext cx="1579996" cy="952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3.6K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496" y="4174777"/>
            <a:ext cx="1579996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1" i="0" u="none">
                <a:solidFill>
                  <a:srgbClr val="1A1508"/>
                </a:solidFill>
                <a:latin typeface="Plus Jakarta Sans"/>
              </a:rPr>
              <a:t>1.6K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496" y="4517677"/>
            <a:ext cx="15799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11111"/>
                </a:solidFill>
                <a:latin typeface="Plus Jakarta Sans"/>
              </a:rPr>
              <a:t>Debit 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9985" y="3508027"/>
            <a:ext cx="1579996" cy="714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2.6K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9985" y="4222402"/>
            <a:ext cx="157999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1" i="0" u="none">
                <a:solidFill>
                  <a:srgbClr val="1A1508"/>
                </a:solidFill>
                <a:latin typeface="Plus Jakarta Sans"/>
              </a:rPr>
              <a:t>1.1K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9985" y="4517677"/>
            <a:ext cx="15799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11111"/>
                </a:solidFill>
                <a:latin typeface="Plus Jakarta Sans"/>
              </a:rPr>
              <a:t>Credit Card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6474" y="4174777"/>
            <a:ext cx="1579996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1" i="0" u="none">
                <a:solidFill>
                  <a:srgbClr val="FFFFFF"/>
                </a:solidFill>
                <a:latin typeface="Plus Jakarta Sans"/>
              </a:rPr>
              <a:t>0.8K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96474" y="4517677"/>
            <a:ext cx="15799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11111"/>
                </a:solidFill>
                <a:latin typeface="Plus Jakarta Sans"/>
              </a:rPr>
              <a:t>UPI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2964" y="4517677"/>
            <a:ext cx="15799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111111"/>
                </a:solidFill>
                <a:latin typeface="Plus Jakarta Sans"/>
              </a:rPr>
              <a:t>Net Banking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401300" y="500955"/>
            <a:ext cx="1304925" cy="323850"/>
          </a:xfrm>
          <a:prstGeom prst="roundRect">
            <a:avLst>
              <a:gd name="adj" fmla="val 17647"/>
            </a:avLst>
          </a:prstGeom>
          <a:solidFill>
            <a:srgbClr val="1A1508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6925" y="2335837"/>
            <a:ext cx="5937200" cy="2447925"/>
          </a:xfrm>
          <a:prstGeom prst="roundRect">
            <a:avLst>
              <a:gd name="adj" fmla="val 3112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06475" y="2718004"/>
            <a:ext cx="5518100" cy="1714500"/>
          </a:xfrm>
          <a:prstGeom prst="roundRect">
            <a:avLst>
              <a:gd name="adj" fmla="val 4444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89675" y="2312640"/>
            <a:ext cx="5016549" cy="1323975"/>
          </a:xfrm>
          <a:prstGeom prst="roundRect">
            <a:avLst>
              <a:gd name="adj" fmla="val 5755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89675" y="3789015"/>
            <a:ext cx="5016549" cy="1323975"/>
          </a:xfrm>
          <a:prstGeom prst="roundRect">
            <a:avLst>
              <a:gd name="adj" fmla="val 5755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950" y="2828557"/>
            <a:ext cx="514350" cy="514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225" y="2560290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225" y="4036665"/>
            <a:ext cx="15240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34650" y="558105"/>
            <a:ext cx="11334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ACC15"/>
                </a:solidFill>
                <a:latin typeface="Plus Jakarta Sans"/>
              </a:rPr>
              <a:t>Integrity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44225" y="65627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1" dirty="0">
                <a:solidFill>
                  <a:srgbClr val="1A1508"/>
                </a:solidFill>
                <a:latin typeface="Plus Jakarta Sans"/>
              </a:rPr>
              <a:t>10</a:t>
            </a:r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775" y="295275"/>
            <a:ext cx="7750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DASHBOARD ANALYSIS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75" y="504825"/>
            <a:ext cx="7750968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Merchant Rating vs Transaction Scatter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343281" y="3515094"/>
            <a:ext cx="72425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111111"/>
                </a:solidFill>
                <a:latin typeface="Plus Jakarta Sans"/>
              </a:rPr>
              <a:t>Scatter Matrix Density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497" y="4018199"/>
            <a:ext cx="26789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 dirty="0">
                <a:solidFill>
                  <a:srgbClr val="111111"/>
                </a:solidFill>
                <a:latin typeface="Plus Jakarta Sans"/>
              </a:rPr>
              <a:t>High Cluster: Ratings 3.5 – 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625" y="4232418"/>
            <a:ext cx="55364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221D0E"/>
                </a:solidFill>
                <a:latin typeface="Plus Jakarta Sans"/>
              </a:rPr>
              <a:t>Scatter plot demonstrates heavy fraud density on highly rated merchants.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9225" y="2522190"/>
            <a:ext cx="5292774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Rating Reputation Blindspot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9225" y="2798415"/>
            <a:ext cx="4692699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A1508"/>
                </a:solidFill>
                <a:latin typeface="Plus Jakarta Sans"/>
              </a:rPr>
              <a:t>High Rating Exposure:</a:t>
            </a:r>
            <a:r>
              <a:rPr sz="1275" b="0" i="0" u="none">
                <a:solidFill>
                  <a:srgbClr val="1A1508"/>
                </a:solidFill>
                <a:latin typeface="Plus Jakarta Sans"/>
              </a:rPr>
              <a:t> Heavy fraud volume exists among merchants rated 4.0 to 5.0, proving bad actors hijack reputable vendor profiles.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9225" y="3998565"/>
            <a:ext cx="5292774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Merchant Account Takeover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9225" y="4274790"/>
            <a:ext cx="4692699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A1508"/>
                </a:solidFill>
                <a:latin typeface="Plus Jakarta Sans"/>
              </a:rPr>
              <a:t>Account Spoofing:</a:t>
            </a:r>
            <a:r>
              <a:rPr sz="1275" b="0" i="0" u="none">
                <a:solidFill>
                  <a:srgbClr val="1A1508"/>
                </a:solidFill>
                <a:latin typeface="Plus Jakarta Sans"/>
              </a:rPr>
              <a:t> High public review scores do not guarantee transactional integrity; automated checks are essential.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29374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86975" y="500955"/>
            <a:ext cx="1619250" cy="323850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714" y="6443661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5775" y="2726977"/>
            <a:ext cx="6165205" cy="1971675"/>
          </a:xfrm>
          <a:prstGeom prst="roundRect">
            <a:avLst>
              <a:gd name="adj" fmla="val 3864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17680" y="2312640"/>
            <a:ext cx="4788544" cy="1323975"/>
          </a:xfrm>
          <a:prstGeom prst="roundRect">
            <a:avLst>
              <a:gd name="adj" fmla="val 5755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17680" y="3789015"/>
            <a:ext cx="4788544" cy="1323975"/>
          </a:xfrm>
          <a:prstGeom prst="roundRect">
            <a:avLst>
              <a:gd name="adj" fmla="val 5755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838325" y="3260377"/>
            <a:ext cx="4164955" cy="152400"/>
          </a:xfrm>
          <a:prstGeom prst="roundRect">
            <a:avLst>
              <a:gd name="adj" fmla="val 25000"/>
            </a:avLst>
          </a:prstGeom>
          <a:solidFill>
            <a:srgbClr val="B59641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38325" y="3527077"/>
            <a:ext cx="4126855" cy="152400"/>
          </a:xfrm>
          <a:prstGeom prst="roundRect">
            <a:avLst>
              <a:gd name="adj" fmla="val 25000"/>
            </a:avLst>
          </a:prstGeom>
          <a:solidFill>
            <a:srgbClr val="B59641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838325" y="3793777"/>
            <a:ext cx="4145905" cy="152400"/>
          </a:xfrm>
          <a:prstGeom prst="roundRect">
            <a:avLst>
              <a:gd name="adj" fmla="val 25000"/>
            </a:avLst>
          </a:prstGeom>
          <a:solidFill>
            <a:srgbClr val="B59641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38325" y="4060477"/>
            <a:ext cx="4145905" cy="152400"/>
          </a:xfrm>
          <a:prstGeom prst="roundRect">
            <a:avLst>
              <a:gd name="adj" fmla="val 25000"/>
            </a:avLst>
          </a:prstGeom>
          <a:solidFill>
            <a:srgbClr val="B59641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38325" y="4327177"/>
            <a:ext cx="4136380" cy="152400"/>
          </a:xfrm>
          <a:prstGeom prst="roundRect">
            <a:avLst>
              <a:gd name="adj" fmla="val 25000"/>
            </a:avLst>
          </a:prstGeom>
          <a:solidFill>
            <a:srgbClr val="B59641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47850" y="3269902"/>
            <a:ext cx="4145905" cy="13335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47850" y="3536602"/>
            <a:ext cx="4025503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47850" y="3803302"/>
            <a:ext cx="392043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47850" y="4070002"/>
            <a:ext cx="3755380" cy="133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47850" y="4336702"/>
            <a:ext cx="3211413" cy="133350"/>
          </a:xfrm>
          <a:prstGeom prst="rect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230" y="2560290"/>
            <a:ext cx="19050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230" y="4036665"/>
            <a:ext cx="17145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220325" y="558105"/>
            <a:ext cx="14478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Geographic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62725"/>
            <a:ext cx="18594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1</a:t>
            </a:r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1</a:t>
            </a:r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775" y="295275"/>
            <a:ext cx="6107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DASHBOARD ANALYSIS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775" y="504825"/>
            <a:ext cx="6107906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Fraud Amount Concentration by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325" y="2936527"/>
            <a:ext cx="75417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111"/>
                </a:solidFill>
                <a:latin typeface="Plus Jakarta Sans"/>
              </a:rPr>
              <a:t>Top Fraud Loss States ($ Millions)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7230" y="2522190"/>
            <a:ext cx="5064769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Top 5 Region Risk Cluster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7230" y="2798415"/>
            <a:ext cx="446469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A1508"/>
                </a:solidFill>
                <a:latin typeface="Plus Jakarta Sans"/>
              </a:rPr>
              <a:t>$332M Loss Concentration:</a:t>
            </a:r>
            <a:r>
              <a:rPr sz="1275" b="0" i="0" u="none">
                <a:solidFill>
                  <a:srgbClr val="1A1508"/>
                </a:solidFill>
                <a:latin typeface="Plus Jakarta Sans"/>
              </a:rPr>
              <a:t> Rajasthan, West Bengal, UP, Telangana, and Tamil Nadu account for over 33% of total fraud exposure.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7230" y="3998565"/>
            <a:ext cx="5064769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Targeted Regional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7230" y="4274790"/>
            <a:ext cx="446469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A1508"/>
                </a:solidFill>
                <a:latin typeface="Plus Jakarta Sans"/>
              </a:rPr>
              <a:t>Localized Geo-Filters:</a:t>
            </a:r>
            <a:r>
              <a:rPr sz="1275" b="0" i="0" u="none">
                <a:solidFill>
                  <a:srgbClr val="1A1508"/>
                </a:solidFill>
                <a:latin typeface="Plus Jakarta Sans"/>
              </a:rPr>
              <a:t> High regional concentration enables targeted authorization filters without impacting low-risk territories.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325" y="3250852"/>
            <a:ext cx="1333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Rajasthan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8530" y="3250852"/>
            <a:ext cx="6286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Plus Jakarta Sans"/>
              </a:rPr>
              <a:t>$71M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325" y="3517552"/>
            <a:ext cx="1333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West Bengal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60430" y="3517552"/>
            <a:ext cx="666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$70M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325" y="3784252"/>
            <a:ext cx="1333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Uttar Pradesh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9480" y="3784252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$69M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4050952"/>
            <a:ext cx="1333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Telangana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79480" y="4050952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$66M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325" y="4317652"/>
            <a:ext cx="1333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Tamil Nadu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9955" y="4317652"/>
            <a:ext cx="6572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11111"/>
                </a:solidFill>
                <a:latin typeface="Plus Jakarta Sans"/>
              </a:rPr>
              <a:t>$56M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34575" y="500955"/>
            <a:ext cx="1771650" cy="323850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5775" y="2565052"/>
            <a:ext cx="6165205" cy="2295525"/>
          </a:xfrm>
          <a:prstGeom prst="roundRect">
            <a:avLst>
              <a:gd name="adj" fmla="val 3319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17680" y="2312640"/>
            <a:ext cx="4788544" cy="1323975"/>
          </a:xfrm>
          <a:prstGeom prst="roundRect">
            <a:avLst>
              <a:gd name="adj" fmla="val 5755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5325" y="3088927"/>
            <a:ext cx="2825353" cy="733425"/>
          </a:xfrm>
          <a:prstGeom prst="roundRect">
            <a:avLst>
              <a:gd name="adj" fmla="val 7792"/>
            </a:avLst>
          </a:prstGeom>
          <a:solidFill>
            <a:srgbClr val="B91C1C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15928" y="3088927"/>
            <a:ext cx="2825501" cy="733425"/>
          </a:xfrm>
          <a:prstGeom prst="roundRect">
            <a:avLst>
              <a:gd name="adj" fmla="val 7792"/>
            </a:avLst>
          </a:prstGeom>
          <a:solidFill>
            <a:srgbClr val="B91C1C"/>
          </a:solidFill>
          <a:ln w="9525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5325" y="3917602"/>
            <a:ext cx="2825353" cy="733425"/>
          </a:xfrm>
          <a:prstGeom prst="roundRect">
            <a:avLst>
              <a:gd name="adj" fmla="val 10389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15928" y="3917602"/>
            <a:ext cx="2825501" cy="733425"/>
          </a:xfrm>
          <a:prstGeom prst="roundRect">
            <a:avLst>
              <a:gd name="adj" fmla="val 10389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230" y="2560290"/>
            <a:ext cx="19050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67925" y="558105"/>
            <a:ext cx="1600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High Exposure Sectors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30564" y="6562725"/>
            <a:ext cx="18594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1</a:t>
            </a:r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2</a:t>
            </a:r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775" y="295275"/>
            <a:ext cx="7643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DASHBOARD ANALYSIS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775" y="504825"/>
            <a:ext cx="7643812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Fraud Amount by Merchant Category (Treemap)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325" y="2774602"/>
            <a:ext cx="75417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11111"/>
                </a:solidFill>
                <a:latin typeface="Plus Jakarta Sans"/>
              </a:rPr>
              <a:t>Category Treemap Losses ($ Millions)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203227"/>
            <a:ext cx="2692003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Hospital / Healthcare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228" y="3203227"/>
            <a:ext cx="2692151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Hotel / Hospitality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4031902"/>
            <a:ext cx="2692003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11111"/>
                </a:solidFill>
                <a:latin typeface="Plus Jakarta Sans"/>
              </a:rPr>
              <a:t>Airlines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228" y="4031902"/>
            <a:ext cx="2692151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11111"/>
                </a:solidFill>
                <a:latin typeface="Plus Jakarta Sans"/>
              </a:rPr>
              <a:t>Travel 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7230" y="2522190"/>
            <a:ext cx="5064769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High-Ticket Digital Resale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7230" y="2798415"/>
            <a:ext cx="446469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A1508"/>
                </a:solidFill>
                <a:latin typeface="Plus Jakarta Sans"/>
              </a:rPr>
              <a:t>$407M Combined Sector Loss:</a:t>
            </a:r>
            <a:r>
              <a:rPr sz="1275" b="0" i="0" u="none">
                <a:solidFill>
                  <a:srgbClr val="1A1508"/>
                </a:solidFill>
                <a:latin typeface="Plus Jakarta Sans"/>
              </a:rPr>
              <a:t> Healthcare, Hotels, Airlines, and Travel lead loss values due to rapid digital voucher resale before detection.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" y="3431827"/>
            <a:ext cx="322212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pace Grotesk"/>
              </a:rPr>
              <a:t>$113M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9753" y="3431827"/>
            <a:ext cx="322231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Space Grotesk"/>
              </a:rPr>
              <a:t>$103M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675" y="4270027"/>
            <a:ext cx="319831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111"/>
                </a:solidFill>
                <a:latin typeface="Space Grotesk"/>
              </a:rPr>
              <a:t>$101M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278" y="4270027"/>
            <a:ext cx="319850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111"/>
                </a:solidFill>
                <a:latin typeface="Space Grotesk"/>
              </a:rPr>
              <a:t>$90M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487025" y="500955"/>
            <a:ext cx="1219200" cy="323850"/>
          </a:xfrm>
          <a:prstGeom prst="roundRect">
            <a:avLst>
              <a:gd name="adj" fmla="val 17647"/>
            </a:avLst>
          </a:prstGeom>
          <a:solidFill>
            <a:srgbClr val="DC2626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5775" y="4394745"/>
            <a:ext cx="11220450" cy="885825"/>
          </a:xfrm>
          <a:prstGeom prst="roundRect">
            <a:avLst>
              <a:gd name="adj" fmla="val 8602"/>
            </a:avLst>
          </a:prstGeom>
          <a:solidFill>
            <a:srgbClr val="D1B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5775" y="2145059"/>
            <a:ext cx="3613100" cy="2021085"/>
          </a:xfrm>
          <a:prstGeom prst="roundRect">
            <a:avLst>
              <a:gd name="adj" fmla="val 3770"/>
            </a:avLst>
          </a:prstGeom>
          <a:solidFill>
            <a:srgbClr val="B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89375" y="2145059"/>
            <a:ext cx="3613100" cy="2021085"/>
          </a:xfrm>
          <a:prstGeom prst="roundRect">
            <a:avLst>
              <a:gd name="adj" fmla="val 3770"/>
            </a:avLst>
          </a:prstGeom>
          <a:solidFill>
            <a:srgbClr val="B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92975" y="2145059"/>
            <a:ext cx="3613100" cy="2021085"/>
          </a:xfrm>
          <a:prstGeom prst="roundRect">
            <a:avLst>
              <a:gd name="adj" fmla="val 3770"/>
            </a:avLst>
          </a:prstGeom>
          <a:solidFill>
            <a:srgbClr val="B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5775" y="5261520"/>
            <a:ext cx="112204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5775" y="4394745"/>
            <a:ext cx="112204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5775" y="4394745"/>
            <a:ext cx="57150" cy="88582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687175" y="4394745"/>
            <a:ext cx="19050" cy="885825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85775" y="4147095"/>
            <a:ext cx="361310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5775" y="2145059"/>
            <a:ext cx="3613100" cy="4762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5775" y="2145059"/>
            <a:ext cx="19050" cy="2021085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79825" y="2145059"/>
            <a:ext cx="19050" cy="2021085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89375" y="4147095"/>
            <a:ext cx="361310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89375" y="2145059"/>
            <a:ext cx="3613100" cy="4762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89375" y="2145059"/>
            <a:ext cx="19050" cy="2021085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83425" y="2145059"/>
            <a:ext cx="19050" cy="2021085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975" y="4147095"/>
            <a:ext cx="361310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2975" y="2145059"/>
            <a:ext cx="3613100" cy="47625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975" y="2145059"/>
            <a:ext cx="19050" cy="2021085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687026" y="2145059"/>
            <a:ext cx="19050" cy="2021085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383184"/>
            <a:ext cx="333375" cy="266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925" y="2383184"/>
            <a:ext cx="266700" cy="2667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2383184"/>
            <a:ext cx="304800" cy="2667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20375" y="558105"/>
            <a:ext cx="10477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Key Synthesis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82325" y="6562725"/>
            <a:ext cx="18594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1</a:t>
            </a:r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3 </a:t>
            </a:r>
            <a:endParaRPr sz="975" b="1" i="0" u="none" dirty="0">
              <a:solidFill>
                <a:srgbClr val="1A1508"/>
              </a:solidFill>
              <a:latin typeface="Plus Jakarta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5775" y="295275"/>
            <a:ext cx="71318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EXECUTIVE 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775" y="504825"/>
            <a:ext cx="7131843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Synthesized Insights &amp; Threat Vulnerabilities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425" y="4604295"/>
            <a:ext cx="1145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11111"/>
                </a:solidFill>
                <a:latin typeface="Plus Jakarta Sans"/>
              </a:rPr>
              <a:t>Core Synthesis 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425" y="4861470"/>
            <a:ext cx="114585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111111"/>
                </a:solidFill>
                <a:latin typeface="Plus Jakarta Sans"/>
              </a:rPr>
              <a:t>Fraud exposure is structured around gateway pre-authorization loopholes rather than individual user compromises.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325" y="2745134"/>
            <a:ext cx="4192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11111"/>
                </a:solidFill>
                <a:latin typeface="Plus Jakarta Sans"/>
              </a:rPr>
              <a:t>1. System Logic Gaps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3049934"/>
            <a:ext cx="3289250" cy="90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1A1508"/>
                </a:solidFill>
                <a:latin typeface="Plus Jakarta Sans"/>
              </a:rPr>
              <a:t>Allowing transactions on expired and lost cards represents an authorization gap, causing over $1Bn in preventable loss exposure.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925" y="2745134"/>
            <a:ext cx="4192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11111"/>
                </a:solidFill>
                <a:latin typeface="Plus Jakarta Sans"/>
              </a:rPr>
              <a:t>2. Nocturnal Scripting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925" y="3049934"/>
            <a:ext cx="3289250" cy="90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1A1508"/>
                </a:solidFill>
                <a:latin typeface="Plus Jakarta Sans"/>
              </a:rPr>
              <a:t>Peak fraud velocity occurs between midnight and early morning (Hour 0 Bin), exploiting lowered off-peak manual monitoring.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525" y="2745134"/>
            <a:ext cx="388947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11111"/>
                </a:solidFill>
                <a:latin typeface="Plus Jakarta Sans"/>
              </a:rPr>
              <a:t>3. High-Value Resale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525" y="3049934"/>
            <a:ext cx="3289250" cy="90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1A1508"/>
                </a:solidFill>
                <a:latin typeface="Plus Jakarta Sans"/>
              </a:rPr>
              <a:t>Hospital, Hotel, and Airline sectors represent $317M in loss, driven by non-refundable instant digital voucher liquidation.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53650" y="500955"/>
            <a:ext cx="1552575" cy="323850"/>
          </a:xfrm>
          <a:prstGeom prst="roundRect">
            <a:avLst>
              <a:gd name="adj" fmla="val 17647"/>
            </a:avLst>
          </a:prstGeom>
          <a:solidFill>
            <a:srgbClr val="1A1508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5775" y="4401294"/>
            <a:ext cx="11220450" cy="742950"/>
          </a:xfrm>
          <a:prstGeom prst="roundRect">
            <a:avLst>
              <a:gd name="adj" fmla="val 10256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5775" y="2281386"/>
            <a:ext cx="3613100" cy="1891307"/>
          </a:xfrm>
          <a:prstGeom prst="roundRect">
            <a:avLst>
              <a:gd name="adj" fmla="val 4028"/>
            </a:avLst>
          </a:prstGeom>
          <a:solidFill>
            <a:srgbClr val="D1B45F"/>
          </a:solidFill>
          <a:ln w="476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5775" y="4153644"/>
            <a:ext cx="361310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5775" y="2281386"/>
            <a:ext cx="3613100" cy="4762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5775" y="2281386"/>
            <a:ext cx="19050" cy="1891307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79825" y="2281386"/>
            <a:ext cx="19050" cy="1891307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89375" y="2281386"/>
            <a:ext cx="3613100" cy="1891307"/>
          </a:xfrm>
          <a:prstGeom prst="roundRect">
            <a:avLst>
              <a:gd name="adj" fmla="val 4028"/>
            </a:avLst>
          </a:prstGeom>
          <a:solidFill>
            <a:srgbClr val="D1B45F"/>
          </a:solidFill>
          <a:ln w="476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89375" y="4153644"/>
            <a:ext cx="361310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9375" y="2281386"/>
            <a:ext cx="3613100" cy="4762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89375" y="2281386"/>
            <a:ext cx="19050" cy="1891307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83425" y="2281386"/>
            <a:ext cx="19050" cy="1891307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92975" y="2281386"/>
            <a:ext cx="3613100" cy="1891307"/>
          </a:xfrm>
          <a:prstGeom prst="roundRect">
            <a:avLst>
              <a:gd name="adj" fmla="val 4028"/>
            </a:avLst>
          </a:prstGeom>
          <a:solidFill>
            <a:srgbClr val="D1B45F"/>
          </a:solidFill>
          <a:ln w="476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975" y="4153644"/>
            <a:ext cx="361310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975" y="2281386"/>
            <a:ext cx="3613100" cy="47625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92975" y="2281386"/>
            <a:ext cx="19050" cy="1891307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687026" y="2281386"/>
            <a:ext cx="19050" cy="1891307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87000" y="558105"/>
            <a:ext cx="13811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ACC15"/>
                </a:solidFill>
                <a:latin typeface="Plus Jakarta Sans"/>
              </a:rPr>
              <a:t>Execution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2325" y="65627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1</a:t>
            </a:r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4</a:t>
            </a:r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775" y="295275"/>
            <a:ext cx="6072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ACTION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775" y="504825"/>
            <a:ext cx="6072187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111111"/>
                </a:solidFill>
                <a:latin typeface="Space Grotesk"/>
              </a:rPr>
              <a:t>Strategic Business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275" y="2471886"/>
            <a:ext cx="3327350" cy="1510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91C1C"/>
                </a:solidFill>
                <a:latin typeface="Plus Jakarta Sans"/>
              </a:rPr>
              <a:t>PHASE 01 — IMMEDIATE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9875" y="2471886"/>
            <a:ext cx="3327350" cy="1510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Plus Jakarta Sans"/>
              </a:rPr>
              <a:t>PHASE 02 — 30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3475" y="2471886"/>
            <a:ext cx="3327350" cy="1510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Plus Jakarta Sans"/>
              </a:rPr>
              <a:t>PHASE 03 — 60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325" y="4667994"/>
            <a:ext cx="104298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11111"/>
                </a:solidFill>
                <a:latin typeface="Plus Jakarta Sans"/>
              </a:rPr>
              <a:t>Governance Target: Mitigate ~$400M in annual fraudulent losses and reduce fraud exposure ratio under 2%.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325" y="2795736"/>
            <a:ext cx="4192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11111"/>
                </a:solidFill>
                <a:latin typeface="Plus Jakarta Sans"/>
              </a:rPr>
              <a:t>Hard Authorization Blocks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325" y="3100536"/>
            <a:ext cx="328925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221D0E"/>
                </a:solidFill>
                <a:latin typeface="Plus Jakarta Sans"/>
              </a:rPr>
              <a:t>Deploy real-time database validation to instantly reject expired or reported lost card attempts prior to payment gateway processing.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925" y="2795736"/>
            <a:ext cx="4192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11111"/>
                </a:solidFill>
                <a:latin typeface="Plus Jakarta Sans"/>
              </a:rPr>
              <a:t>Dynamic Off-Hour Step-Up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925" y="3100536"/>
            <a:ext cx="32892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221D0E"/>
                </a:solidFill>
                <a:latin typeface="Plus Jakarta Sans"/>
              </a:rPr>
              <a:t>Enforce mandatory 3D-Secure biometric or OTP verification for transactions initiated between 11 PM and 5 AM exceeding $200.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525" y="2795736"/>
            <a:ext cx="38894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11111"/>
                </a:solidFill>
                <a:latin typeface="Space Grotesk"/>
              </a:rPr>
              <a:t>Sector &amp; Geo Risk Scoring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525" y="3110061"/>
            <a:ext cx="3289250" cy="64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221D0E"/>
                </a:solidFill>
                <a:latin typeface="Plus Jakarta Sans"/>
              </a:rPr>
              <a:t>Implement risk scoring for high-loss sectors (Healthcare, Airlines, Hotels) and top exposure states (Rajasthan, West Bengal, UP).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" y="28575"/>
            <a:ext cx="12134850" cy="967680"/>
          </a:xfrm>
          <a:prstGeom prst="rect">
            <a:avLst/>
          </a:prstGeom>
          <a:solidFill>
            <a:srgbClr val="B59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8575" y="6429375"/>
            <a:ext cx="121348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575" y="97720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575" y="6429375"/>
            <a:ext cx="121348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5775" y="2214562"/>
            <a:ext cx="3613100" cy="1514475"/>
          </a:xfrm>
          <a:prstGeom prst="roundRect">
            <a:avLst>
              <a:gd name="adj" fmla="val 5031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89375" y="2214562"/>
            <a:ext cx="3613100" cy="1514475"/>
          </a:xfrm>
          <a:prstGeom prst="roundRect">
            <a:avLst>
              <a:gd name="adj" fmla="val 5031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92975" y="2214562"/>
            <a:ext cx="3613100" cy="1514475"/>
          </a:xfrm>
          <a:prstGeom prst="roundRect">
            <a:avLst>
              <a:gd name="adj" fmla="val 5031"/>
            </a:avLst>
          </a:prstGeom>
          <a:solidFill>
            <a:srgbClr val="B59641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950" y="2462212"/>
            <a:ext cx="2286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451" y="2462212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051" y="2462212"/>
            <a:ext cx="3048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0" y="65627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775" y="295275"/>
            <a:ext cx="8048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Space Grotesk"/>
              </a:rPr>
              <a:t>IMPACT QUANTIFIED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" y="504825"/>
            <a:ext cx="4442883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 dirty="0">
                <a:solidFill>
                  <a:srgbClr val="111111"/>
                </a:solidFill>
                <a:latin typeface="Space Grotesk"/>
              </a:rPr>
              <a:t>Projected Strategic Impact &amp;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699" y="2843212"/>
            <a:ext cx="389725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1" i="0" u="none">
                <a:solidFill>
                  <a:srgbClr val="F8FAFC"/>
                </a:solidFill>
                <a:latin typeface="Space Grotesk"/>
              </a:rPr>
              <a:t>-75%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699" y="3300412"/>
            <a:ext cx="3897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6200D"/>
                </a:solidFill>
                <a:latin typeface="Plus Jakarta Sans"/>
              </a:rPr>
              <a:t>Reduction in Expired Card Fraud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47300" y="2843212"/>
            <a:ext cx="389725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1" i="0" u="none">
                <a:solidFill>
                  <a:srgbClr val="F8FAFC"/>
                </a:solidFill>
                <a:latin typeface="Space Grotesk"/>
              </a:rPr>
              <a:t>$400M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7300" y="3300412"/>
            <a:ext cx="3897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6200D"/>
                </a:solidFill>
                <a:latin typeface="Plus Jakarta Sans"/>
              </a:rPr>
              <a:t>Capital Saved Annually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0900" y="2843212"/>
            <a:ext cx="389725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sz="3000" b="1" i="0" u="none">
                <a:solidFill>
                  <a:srgbClr val="F8FAFC"/>
                </a:solidFill>
                <a:latin typeface="Space Grotesk"/>
              </a:rPr>
              <a:t>96.5%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0900" y="3300412"/>
            <a:ext cx="3897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6200D"/>
                </a:solidFill>
                <a:latin typeface="Plus Jakarta Sans"/>
              </a:rPr>
              <a:t>Target Authorization Success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A5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1975" y="5895975"/>
            <a:ext cx="11068050" cy="400050"/>
          </a:xfrm>
          <a:prstGeom prst="rect">
            <a:avLst/>
          </a:prstGeom>
          <a:solidFill>
            <a:srgbClr val="A98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106025" y="561975"/>
            <a:ext cx="1524000" cy="323850"/>
          </a:xfrm>
          <a:prstGeom prst="roundRect">
            <a:avLst>
              <a:gd name="adj" fmla="val 17647"/>
            </a:avLst>
          </a:prstGeom>
          <a:solidFill>
            <a:srgbClr val="1A1508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00450" y="4062412"/>
            <a:ext cx="4991100" cy="847725"/>
          </a:xfrm>
          <a:prstGeom prst="roundRect">
            <a:avLst>
              <a:gd name="adj" fmla="val 8988"/>
            </a:avLst>
          </a:prstGeom>
          <a:solidFill>
            <a:srgbClr val="D1B45F"/>
          </a:solidFill>
          <a:ln w="19050">
            <a:solidFill>
              <a:srgbClr val="1A15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1975" y="5895975"/>
            <a:ext cx="11068050" cy="19050"/>
          </a:xfrm>
          <a:prstGeom prst="rect">
            <a:avLst/>
          </a:prstGeom>
          <a:solidFill>
            <a:srgbClr val="1A15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5" y="2052637"/>
            <a:ext cx="66675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48875" y="619125"/>
            <a:ext cx="1638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ACC15"/>
                </a:solidFill>
                <a:latin typeface="Plus Jakarta Sans"/>
              </a:rPr>
              <a:t>CLOSING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5768" y="2738437"/>
            <a:ext cx="3700462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111111"/>
                </a:solidFill>
                <a:latin typeface="Space Grotesk"/>
              </a:rP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3015" y="3529012"/>
            <a:ext cx="5845968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Space Grotesk"/>
              </a:rPr>
              <a:t>Any Questions or Discussion Points?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32326" y="6029325"/>
            <a:ext cx="1570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1A1508"/>
                </a:solidFill>
                <a:latin typeface="Plus Jakarta Sans"/>
              </a:rPr>
              <a:t>1</a:t>
            </a:r>
            <a:r>
              <a:rPr lang="en-US" sz="975" b="1" i="0" u="none" dirty="0">
                <a:solidFill>
                  <a:srgbClr val="1A1508"/>
                </a:solidFill>
                <a:latin typeface="Plus Jakarta Sans"/>
              </a:rPr>
              <a:t>6 </a:t>
            </a:r>
            <a:endParaRPr sz="975" b="1" i="0" u="none" dirty="0">
              <a:solidFill>
                <a:srgbClr val="1A1508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30420" y="4271962"/>
            <a:ext cx="33311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221D0E"/>
                </a:solidFill>
                <a:latin typeface="Plus Jakarta Sans"/>
              </a:rPr>
              <a:t>Presenter: </a:t>
            </a:r>
            <a:r>
              <a:rPr lang="en-US" sz="1200" b="1" i="0" u="none" dirty="0">
                <a:solidFill>
                  <a:srgbClr val="221D0E"/>
                </a:solidFill>
                <a:latin typeface="Plus Jakarta Sans"/>
              </a:rPr>
              <a:t>Ankita Bharti</a:t>
            </a:r>
            <a:r>
              <a:rPr sz="1200" b="1" i="0" u="none" dirty="0">
                <a:solidFill>
                  <a:srgbClr val="221D0E"/>
                </a:solidFill>
                <a:latin typeface="Plus Jakarta Sans"/>
              </a:rPr>
              <a:t>|  Student Code: AF</a:t>
            </a:r>
            <a:r>
              <a:rPr lang="en-US" sz="1200" b="1" i="0" u="none" dirty="0">
                <a:solidFill>
                  <a:srgbClr val="221D0E"/>
                </a:solidFill>
                <a:latin typeface="Plus Jakarta Sans"/>
              </a:rPr>
              <a:t>0307596</a:t>
            </a:r>
            <a:endParaRPr sz="1200" b="1" i="0" u="none" dirty="0">
              <a:solidFill>
                <a:srgbClr val="221D0E"/>
              </a:solidFill>
              <a:latin typeface="Plus Jakarta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89689" y="4529137"/>
            <a:ext cx="161262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 dirty="0">
                <a:solidFill>
                  <a:srgbClr val="3A3014"/>
                </a:solidFill>
                <a:latin typeface="Plus Jakarta Sans"/>
              </a:rPr>
              <a:t>Power BI Dashboard Analysis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1141</Words>
  <Application>Microsoft Office PowerPoint</Application>
  <PresentationFormat>Widescreen</PresentationFormat>
  <Paragraphs>213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Space Grotesk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Ankita Bharti</dc:creator>
  <cp:keywords/>
  <dc:description>generated using python-pptx</dc:description>
  <cp:lastModifiedBy>Ankita Bharti</cp:lastModifiedBy>
  <cp:revision>3</cp:revision>
  <dcterms:created xsi:type="dcterms:W3CDTF">2013-01-27T09:14:16Z</dcterms:created>
  <dcterms:modified xsi:type="dcterms:W3CDTF">2026-10-05T06:47:29Z</dcterms:modified>
  <cp:category/>
</cp:coreProperties>
</file>